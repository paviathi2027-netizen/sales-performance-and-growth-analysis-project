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9" r:id="rId3"/>
    <p:sldId id="257" r:id="rId4"/>
    <p:sldId id="262" r:id="rId5"/>
    <p:sldId id="264" r:id="rId6"/>
    <p:sldId id="265" r:id="rId7"/>
    <p:sldId id="266" r:id="rId8"/>
    <p:sldId id="267" r:id="rId9"/>
    <p:sldId id="268" r:id="rId10"/>
    <p:sldId id="269" r:id="rId11"/>
    <p:sldId id="270" r:id="rId12"/>
    <p:sldId id="272" r:id="rId13"/>
    <p:sldId id="271"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00863D"/>
    <a:srgbClr val="CC9900"/>
    <a:srgbClr val="FF9900"/>
    <a:srgbClr val="027B7E"/>
    <a:srgbClr val="336600"/>
    <a:srgbClr val="000099"/>
    <a:srgbClr val="00682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78" d="100"/>
          <a:sy n="78" d="100"/>
        </p:scale>
        <p:origin x="86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810A7190-FB2D-469F-9C2B-7D9B1079FB23}" type="datetimeFigureOut">
              <a:rPr lang="en-IN" smtClean="0"/>
              <a:t>21-05-2026</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BCC907DD-13E8-4A63-9EB2-687FD6E03D6C}" type="slidenum">
              <a:rPr lang="en-IN" smtClean="0"/>
              <a:t>‹#›</a:t>
            </a:fld>
            <a:endParaRPr lang="en-IN"/>
          </a:p>
        </p:txBody>
      </p:sp>
    </p:spTree>
    <p:extLst>
      <p:ext uri="{BB962C8B-B14F-4D97-AF65-F5344CB8AC3E}">
        <p14:creationId xmlns:p14="http://schemas.microsoft.com/office/powerpoint/2010/main" val="3752577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0A7190-FB2D-469F-9C2B-7D9B1079FB23}" type="datetimeFigureOut">
              <a:rPr lang="en-IN" smtClean="0"/>
              <a:t>21-05-2026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C907DD-13E8-4A63-9EB2-687FD6E03D6C}" type="slidenum">
              <a:rPr lang="en-IN" smtClean="0"/>
              <a:t>‹#›</a:t>
            </a:fld>
            <a:endParaRPr lang="en-IN"/>
          </a:p>
        </p:txBody>
      </p:sp>
    </p:spTree>
    <p:extLst>
      <p:ext uri="{BB962C8B-B14F-4D97-AF65-F5344CB8AC3E}">
        <p14:creationId xmlns:p14="http://schemas.microsoft.com/office/powerpoint/2010/main" val="7542638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0A7190-FB2D-469F-9C2B-7D9B1079FB23}" type="datetimeFigureOut">
              <a:rPr lang="en-IN" smtClean="0"/>
              <a:t>21-05-2026</a:t>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CC907DD-13E8-4A63-9EB2-687FD6E03D6C}" type="slidenum">
              <a:rPr lang="en-IN" smtClean="0"/>
              <a:t>‹#›</a:t>
            </a:fld>
            <a:endParaRPr lang="en-IN"/>
          </a:p>
        </p:txBody>
      </p:sp>
    </p:spTree>
    <p:extLst>
      <p:ext uri="{BB962C8B-B14F-4D97-AF65-F5344CB8AC3E}">
        <p14:creationId xmlns:p14="http://schemas.microsoft.com/office/powerpoint/2010/main" val="17213818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10A7190-FB2D-469F-9C2B-7D9B1079FB23}" type="datetimeFigureOut">
              <a:rPr lang="en-IN" smtClean="0"/>
              <a:t>21-05-2026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CC907DD-13E8-4A63-9EB2-687FD6E03D6C}" type="slidenum">
              <a:rPr lang="en-IN" smtClean="0"/>
              <a:t>‹#›</a:t>
            </a:fld>
            <a:endParaRPr lang="en-IN"/>
          </a:p>
        </p:txBody>
      </p:sp>
    </p:spTree>
    <p:extLst>
      <p:ext uri="{BB962C8B-B14F-4D97-AF65-F5344CB8AC3E}">
        <p14:creationId xmlns:p14="http://schemas.microsoft.com/office/powerpoint/2010/main" val="7194536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10A7190-FB2D-469F-9C2B-7D9B1079FB23}" type="datetimeFigureOut">
              <a:rPr lang="en-IN" smtClean="0"/>
              <a:t>21-05-2026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CC907DD-13E8-4A63-9EB2-687FD6E03D6C}" type="slidenum">
              <a:rPr lang="en-IN" smtClean="0"/>
              <a:t>‹#›</a:t>
            </a:fld>
            <a:endParaRPr lang="en-IN"/>
          </a:p>
        </p:txBody>
      </p:sp>
    </p:spTree>
    <p:extLst>
      <p:ext uri="{BB962C8B-B14F-4D97-AF65-F5344CB8AC3E}">
        <p14:creationId xmlns:p14="http://schemas.microsoft.com/office/powerpoint/2010/main" val="14587785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10A7190-FB2D-469F-9C2B-7D9B1079FB23}" type="datetimeFigureOut">
              <a:rPr lang="en-IN" smtClean="0"/>
              <a:t>21-05-2026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CC907DD-13E8-4A63-9EB2-687FD6E03D6C}" type="slidenum">
              <a:rPr lang="en-IN" smtClean="0"/>
              <a:t>‹#›</a:t>
            </a:fld>
            <a:endParaRPr lang="en-IN"/>
          </a:p>
        </p:txBody>
      </p:sp>
    </p:spTree>
    <p:extLst>
      <p:ext uri="{BB962C8B-B14F-4D97-AF65-F5344CB8AC3E}">
        <p14:creationId xmlns:p14="http://schemas.microsoft.com/office/powerpoint/2010/main" val="2688407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0A7190-FB2D-469F-9C2B-7D9B1079FB23}" type="datetimeFigureOut">
              <a:rPr lang="en-IN" smtClean="0"/>
              <a:t>21-05-2026</a:t>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BCC907DD-13E8-4A63-9EB2-687FD6E03D6C}" type="slidenum">
              <a:rPr lang="en-IN" smtClean="0"/>
              <a:t>‹#›</a:t>
            </a:fld>
            <a:endParaRPr lang="en-IN"/>
          </a:p>
        </p:txBody>
      </p:sp>
    </p:spTree>
    <p:extLst>
      <p:ext uri="{BB962C8B-B14F-4D97-AF65-F5344CB8AC3E}">
        <p14:creationId xmlns:p14="http://schemas.microsoft.com/office/powerpoint/2010/main" val="297969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0A7190-FB2D-469F-9C2B-7D9B1079FB23}" type="datetimeFigureOut">
              <a:rPr lang="en-IN" smtClean="0"/>
              <a:t>21-05-2026</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CC907DD-13E8-4A63-9EB2-687FD6E03D6C}" type="slidenum">
              <a:rPr lang="en-IN" smtClean="0"/>
              <a:t>‹#›</a:t>
            </a:fld>
            <a:endParaRPr lang="en-IN"/>
          </a:p>
        </p:txBody>
      </p:sp>
    </p:spTree>
    <p:extLst>
      <p:ext uri="{BB962C8B-B14F-4D97-AF65-F5344CB8AC3E}">
        <p14:creationId xmlns:p14="http://schemas.microsoft.com/office/powerpoint/2010/main" val="17411985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0A7190-FB2D-469F-9C2B-7D9B1079FB23}" type="datetimeFigureOut">
              <a:rPr lang="en-IN" smtClean="0"/>
              <a:t>21-05-2026</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CC907DD-13E8-4A63-9EB2-687FD6E03D6C}" type="slidenum">
              <a:rPr lang="en-IN" smtClean="0"/>
              <a:t>‹#›</a:t>
            </a:fld>
            <a:endParaRPr lang="en-IN"/>
          </a:p>
        </p:txBody>
      </p:sp>
    </p:spTree>
    <p:extLst>
      <p:ext uri="{BB962C8B-B14F-4D97-AF65-F5344CB8AC3E}">
        <p14:creationId xmlns:p14="http://schemas.microsoft.com/office/powerpoint/2010/main" val="25670824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0A7190-FB2D-469F-9C2B-7D9B1079FB23}" type="datetimeFigureOut">
              <a:rPr lang="en-IN" smtClean="0"/>
              <a:t>21-05-2026</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BCC907DD-13E8-4A63-9EB2-687FD6E03D6C}" type="slidenum">
              <a:rPr lang="en-IN" smtClean="0"/>
              <a:t>‹#›</a:t>
            </a:fld>
            <a:endParaRPr lang="en-IN"/>
          </a:p>
        </p:txBody>
      </p:sp>
    </p:spTree>
    <p:extLst>
      <p:ext uri="{BB962C8B-B14F-4D97-AF65-F5344CB8AC3E}">
        <p14:creationId xmlns:p14="http://schemas.microsoft.com/office/powerpoint/2010/main" val="583809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10A7190-FB2D-469F-9C2B-7D9B1079FB23}" type="datetimeFigureOut">
              <a:rPr lang="en-IN" smtClean="0"/>
              <a:t>21-05-2026</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CC907DD-13E8-4A63-9EB2-687FD6E03D6C}" type="slidenum">
              <a:rPr lang="en-IN" smtClean="0"/>
              <a:t>‹#›</a:t>
            </a:fld>
            <a:endParaRPr lang="en-IN"/>
          </a:p>
        </p:txBody>
      </p:sp>
    </p:spTree>
    <p:extLst>
      <p:ext uri="{BB962C8B-B14F-4D97-AF65-F5344CB8AC3E}">
        <p14:creationId xmlns:p14="http://schemas.microsoft.com/office/powerpoint/2010/main" val="29818592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10A7190-FB2D-469F-9C2B-7D9B1079FB23}" type="datetimeFigureOut">
              <a:rPr lang="en-IN" smtClean="0"/>
              <a:t>21-05-2026</a:t>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CC907DD-13E8-4A63-9EB2-687FD6E03D6C}" type="slidenum">
              <a:rPr lang="en-IN" smtClean="0"/>
              <a:t>‹#›</a:t>
            </a:fld>
            <a:endParaRPr lang="en-IN"/>
          </a:p>
        </p:txBody>
      </p:sp>
    </p:spTree>
    <p:extLst>
      <p:ext uri="{BB962C8B-B14F-4D97-AF65-F5344CB8AC3E}">
        <p14:creationId xmlns:p14="http://schemas.microsoft.com/office/powerpoint/2010/main" val="39245588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0A7190-FB2D-469F-9C2B-7D9B1079FB23}" type="datetimeFigureOut">
              <a:rPr lang="en-IN" smtClean="0"/>
              <a:t>21-05-2026</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CC907DD-13E8-4A63-9EB2-687FD6E03D6C}" type="slidenum">
              <a:rPr lang="en-IN" smtClean="0"/>
              <a:t>‹#›</a:t>
            </a:fld>
            <a:endParaRPr lang="en-IN"/>
          </a:p>
        </p:txBody>
      </p:sp>
    </p:spTree>
    <p:extLst>
      <p:ext uri="{BB962C8B-B14F-4D97-AF65-F5344CB8AC3E}">
        <p14:creationId xmlns:p14="http://schemas.microsoft.com/office/powerpoint/2010/main" val="33789200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810A7190-FB2D-469F-9C2B-7D9B1079FB23}" type="datetimeFigureOut">
              <a:rPr lang="en-IN" smtClean="0"/>
              <a:t>21-05-2026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CC907DD-13E8-4A63-9EB2-687FD6E03D6C}" type="slidenum">
              <a:rPr lang="en-IN" smtClean="0"/>
              <a:t>‹#›</a:t>
            </a:fld>
            <a:endParaRPr lang="en-IN"/>
          </a:p>
        </p:txBody>
      </p:sp>
    </p:spTree>
    <p:extLst>
      <p:ext uri="{BB962C8B-B14F-4D97-AF65-F5344CB8AC3E}">
        <p14:creationId xmlns:p14="http://schemas.microsoft.com/office/powerpoint/2010/main" val="28920842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810A7190-FB2D-469F-9C2B-7D9B1079FB23}" type="datetimeFigureOut">
              <a:rPr lang="en-IN" smtClean="0"/>
              <a:t>21-05-2026</a:t>
            </a:fld>
            <a:endParaRPr lang="en-IN"/>
          </a:p>
        </p:txBody>
      </p:sp>
      <p:sp>
        <p:nvSpPr>
          <p:cNvPr id="8" name="Footer Placeholder 7"/>
          <p:cNvSpPr>
            <a:spLocks noGrp="1"/>
          </p:cNvSpPr>
          <p:nvPr>
            <p:ph type="ftr" sz="quarter" idx="11"/>
          </p:nvPr>
        </p:nvSpPr>
        <p:spPr>
          <a:xfrm>
            <a:off x="561111" y="6391838"/>
            <a:ext cx="3644282" cy="304801"/>
          </a:xfrm>
        </p:spPr>
        <p:txBody>
          <a:bodyPr/>
          <a:lstStyle/>
          <a:p>
            <a:endParaRPr lang="en-IN"/>
          </a:p>
        </p:txBody>
      </p:sp>
      <p:sp>
        <p:nvSpPr>
          <p:cNvPr id="9" name="Slide Number Placeholder 8"/>
          <p:cNvSpPr>
            <a:spLocks noGrp="1"/>
          </p:cNvSpPr>
          <p:nvPr>
            <p:ph type="sldNum" sz="quarter" idx="12"/>
          </p:nvPr>
        </p:nvSpPr>
        <p:spPr/>
        <p:txBody>
          <a:bodyPr/>
          <a:lstStyle/>
          <a:p>
            <a:fld id="{BCC907DD-13E8-4A63-9EB2-687FD6E03D6C}" type="slidenum">
              <a:rPr lang="en-IN" smtClean="0"/>
              <a:t>‹#›</a:t>
            </a:fld>
            <a:endParaRPr lang="en-IN"/>
          </a:p>
        </p:txBody>
      </p:sp>
    </p:spTree>
    <p:extLst>
      <p:ext uri="{BB962C8B-B14F-4D97-AF65-F5344CB8AC3E}">
        <p14:creationId xmlns:p14="http://schemas.microsoft.com/office/powerpoint/2010/main" val="23166858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810A7190-FB2D-469F-9C2B-7D9B1079FB23}" type="datetimeFigureOut">
              <a:rPr lang="en-IN" smtClean="0"/>
              <a:t>21-05-2026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CC907DD-13E8-4A63-9EB2-687FD6E03D6C}" type="slidenum">
              <a:rPr lang="en-IN" smtClean="0"/>
              <a:t>‹#›</a:t>
            </a:fld>
            <a:endParaRPr lang="en-IN"/>
          </a:p>
        </p:txBody>
      </p:sp>
    </p:spTree>
    <p:extLst>
      <p:ext uri="{BB962C8B-B14F-4D97-AF65-F5344CB8AC3E}">
        <p14:creationId xmlns:p14="http://schemas.microsoft.com/office/powerpoint/2010/main" val="859821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810A7190-FB2D-469F-9C2B-7D9B1079FB23}" type="datetimeFigureOut">
              <a:rPr lang="en-IN" smtClean="0"/>
              <a:t>21-05-2026</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BCC907DD-13E8-4A63-9EB2-687FD6E03D6C}" type="slidenum">
              <a:rPr lang="en-IN" smtClean="0"/>
              <a:t>‹#›</a:t>
            </a:fld>
            <a:endParaRPr lang="en-IN"/>
          </a:p>
        </p:txBody>
      </p:sp>
    </p:spTree>
    <p:extLst>
      <p:ext uri="{BB962C8B-B14F-4D97-AF65-F5344CB8AC3E}">
        <p14:creationId xmlns:p14="http://schemas.microsoft.com/office/powerpoint/2010/main" val="29163132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810A7190-FB2D-469F-9C2B-7D9B1079FB23}" type="datetimeFigureOut">
              <a:rPr lang="en-IN" smtClean="0"/>
              <a:t>21-05-2026</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BCC907DD-13E8-4A63-9EB2-687FD6E03D6C}" type="slidenum">
              <a:rPr lang="en-IN" smtClean="0"/>
              <a:t>‹#›</a:t>
            </a:fld>
            <a:endParaRPr lang="en-IN"/>
          </a:p>
        </p:txBody>
      </p:sp>
    </p:spTree>
    <p:extLst>
      <p:ext uri="{BB962C8B-B14F-4D97-AF65-F5344CB8AC3E}">
        <p14:creationId xmlns:p14="http://schemas.microsoft.com/office/powerpoint/2010/main" val="2827537926"/>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1697C-3A82-630D-1D65-9D30CF3E8F6F}"/>
              </a:ext>
            </a:extLst>
          </p:cNvPr>
          <p:cNvSpPr>
            <a:spLocks noGrp="1"/>
          </p:cNvSpPr>
          <p:nvPr>
            <p:ph type="ctrTitle"/>
          </p:nvPr>
        </p:nvSpPr>
        <p:spPr/>
        <p:txBody>
          <a:bodyPr/>
          <a:lstStyle/>
          <a:p>
            <a:r>
              <a:rPr lang="en-US" dirty="0"/>
              <a:t>AdventureWorks: Sales Performance &amp; Growth Analysis</a:t>
            </a:r>
            <a:endParaRPr lang="en-IN" dirty="0"/>
          </a:p>
        </p:txBody>
      </p:sp>
      <p:sp>
        <p:nvSpPr>
          <p:cNvPr id="5" name="TextBox 4">
            <a:extLst>
              <a:ext uri="{FF2B5EF4-FFF2-40B4-BE49-F238E27FC236}">
                <a16:creationId xmlns:a16="http://schemas.microsoft.com/office/drawing/2014/main" id="{85467BB5-4FE5-B7BF-ACAF-0C5E3C3211F4}"/>
              </a:ext>
            </a:extLst>
          </p:cNvPr>
          <p:cNvSpPr txBox="1"/>
          <p:nvPr/>
        </p:nvSpPr>
        <p:spPr>
          <a:xfrm>
            <a:off x="1154955" y="5262405"/>
            <a:ext cx="6096000" cy="369332"/>
          </a:xfrm>
          <a:prstGeom prst="rect">
            <a:avLst/>
          </a:prstGeom>
          <a:noFill/>
        </p:spPr>
        <p:txBody>
          <a:bodyPr wrap="square">
            <a:spAutoFit/>
          </a:bodyPr>
          <a:lstStyle/>
          <a:p>
            <a:r>
              <a:rPr lang="en-IN" dirty="0">
                <a:solidFill>
                  <a:schemeClr val="bg1"/>
                </a:solidFill>
              </a:rPr>
              <a:t>By Pavithra</a:t>
            </a:r>
          </a:p>
        </p:txBody>
      </p:sp>
    </p:spTree>
    <p:extLst>
      <p:ext uri="{BB962C8B-B14F-4D97-AF65-F5344CB8AC3E}">
        <p14:creationId xmlns:p14="http://schemas.microsoft.com/office/powerpoint/2010/main" val="656088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C8231F-0003-3C4D-E54A-49D291FD8B63}"/>
              </a:ext>
            </a:extLst>
          </p:cNvPr>
          <p:cNvSpPr>
            <a:spLocks noGrp="1"/>
          </p:cNvSpPr>
          <p:nvPr>
            <p:ph idx="1"/>
          </p:nvPr>
        </p:nvSpPr>
        <p:spPr>
          <a:xfrm>
            <a:off x="658761" y="2703870"/>
            <a:ext cx="10599173" cy="4060723"/>
          </a:xfrm>
        </p:spPr>
        <p:txBody>
          <a:bodyPr>
            <a:normAutofit lnSpcReduction="10000"/>
          </a:bodyPr>
          <a:lstStyle/>
          <a:p>
            <a:pPr>
              <a:buFont typeface="Wingdings" panose="05000000000000000000" pitchFamily="2" charset="2"/>
              <a:buChar char="v"/>
            </a:pPr>
            <a:r>
              <a:rPr lang="en-US" sz="2400" dirty="0"/>
              <a:t>Company is struggling to have clear view regarding performance of sales, revenue, and profitability. The organization also lacks clear insight into customer trends. So, an automated app is required to analyze the historical sales data and predict future revenue</a:t>
            </a:r>
            <a:endParaRPr lang="en-IN" sz="2400" dirty="0"/>
          </a:p>
          <a:p>
            <a:pPr marL="228600" indent="-228600">
              <a:buFont typeface="+mj-lt"/>
              <a:buAutoNum type="arabicPeriod"/>
            </a:pPr>
            <a:r>
              <a:rPr lang="en-US" sz="2000" b="1" dirty="0"/>
              <a:t>Agenda</a:t>
            </a:r>
          </a:p>
          <a:p>
            <a:pPr marL="0" indent="0">
              <a:buNone/>
            </a:pPr>
            <a:r>
              <a:rPr lang="en-US" sz="2400" dirty="0"/>
              <a:t>As a Sales Data Analyst, the objective is to provide directors with a clear and structured view of sales tracking and overall business performance.</a:t>
            </a:r>
          </a:p>
          <a:p>
            <a:pPr marL="0" indent="0">
              <a:buNone/>
            </a:pPr>
            <a:endParaRPr lang="en-US" sz="2400" b="1" dirty="0"/>
          </a:p>
          <a:p>
            <a:pPr marL="0" indent="0">
              <a:buNone/>
            </a:pPr>
            <a:r>
              <a:rPr lang="en-US" sz="2400" b="1" dirty="0"/>
              <a:t>      </a:t>
            </a:r>
          </a:p>
        </p:txBody>
      </p:sp>
      <p:sp>
        <p:nvSpPr>
          <p:cNvPr id="5" name="Title 1">
            <a:extLst>
              <a:ext uri="{FF2B5EF4-FFF2-40B4-BE49-F238E27FC236}">
                <a16:creationId xmlns:a16="http://schemas.microsoft.com/office/drawing/2014/main" id="{89FA7D80-DBBB-849B-B4B7-651BC4A544AD}"/>
              </a:ext>
            </a:extLst>
          </p:cNvPr>
          <p:cNvSpPr>
            <a:spLocks noGrp="1"/>
          </p:cNvSpPr>
          <p:nvPr>
            <p:ph type="title"/>
          </p:nvPr>
        </p:nvSpPr>
        <p:spPr>
          <a:xfrm>
            <a:off x="1154954" y="973668"/>
            <a:ext cx="8761413" cy="706964"/>
          </a:xfrm>
        </p:spPr>
        <p:txBody>
          <a:bodyPr>
            <a:normAutofit fontScale="90000"/>
          </a:bodyPr>
          <a:lstStyle/>
          <a:p>
            <a:r>
              <a:rPr lang="en-IN" sz="4400" dirty="0"/>
              <a:t>Problem Statement</a:t>
            </a:r>
          </a:p>
        </p:txBody>
      </p:sp>
    </p:spTree>
    <p:extLst>
      <p:ext uri="{BB962C8B-B14F-4D97-AF65-F5344CB8AC3E}">
        <p14:creationId xmlns:p14="http://schemas.microsoft.com/office/powerpoint/2010/main" val="30186426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BDFF5-A459-B05E-FD3B-672A34A42B5C}"/>
              </a:ext>
            </a:extLst>
          </p:cNvPr>
          <p:cNvSpPr>
            <a:spLocks noGrp="1"/>
          </p:cNvSpPr>
          <p:nvPr>
            <p:ph type="title"/>
          </p:nvPr>
        </p:nvSpPr>
        <p:spPr/>
        <p:txBody>
          <a:bodyPr>
            <a:normAutofit fontScale="90000"/>
          </a:bodyPr>
          <a:lstStyle/>
          <a:p>
            <a:r>
              <a:rPr lang="en-US" sz="4400" dirty="0"/>
              <a:t>Project Objective</a:t>
            </a:r>
            <a:endParaRPr lang="en-IN" sz="4400" dirty="0"/>
          </a:p>
        </p:txBody>
      </p:sp>
      <p:sp>
        <p:nvSpPr>
          <p:cNvPr id="3" name="Content Placeholder 2">
            <a:extLst>
              <a:ext uri="{FF2B5EF4-FFF2-40B4-BE49-F238E27FC236}">
                <a16:creationId xmlns:a16="http://schemas.microsoft.com/office/drawing/2014/main" id="{665613C7-3B64-0D51-2271-22E0775ACB6D}"/>
              </a:ext>
            </a:extLst>
          </p:cNvPr>
          <p:cNvSpPr>
            <a:spLocks noGrp="1"/>
          </p:cNvSpPr>
          <p:nvPr>
            <p:ph idx="1"/>
          </p:nvPr>
        </p:nvSpPr>
        <p:spPr>
          <a:xfrm>
            <a:off x="495189" y="2154495"/>
            <a:ext cx="11201622" cy="5101936"/>
          </a:xfrm>
        </p:spPr>
        <p:txBody>
          <a:bodyPr>
            <a:normAutofit/>
          </a:bodyPr>
          <a:lstStyle/>
          <a:p>
            <a:pPr lvl="0"/>
            <a:r>
              <a:rPr lang="en-US" sz="2400" dirty="0"/>
              <a:t>Analyze Gross Profit (GPR) and GP% by time, geography, category, and product.</a:t>
            </a:r>
            <a:endParaRPr lang="en-IN" sz="2400" dirty="0"/>
          </a:p>
          <a:p>
            <a:pPr lvl="0"/>
            <a:r>
              <a:rPr lang="en-US" sz="2400" dirty="0"/>
              <a:t>Find patterns customer metrics including customer count, AOV, and customers Behaviors and patterns.</a:t>
            </a:r>
            <a:endParaRPr lang="en-IN" sz="2400" dirty="0"/>
          </a:p>
          <a:p>
            <a:r>
              <a:rPr lang="en-US" sz="2400" dirty="0"/>
              <a:t>Identify top and products/categories by revenue and orders.</a:t>
            </a:r>
            <a:endParaRPr lang="en-IN" sz="2400" dirty="0"/>
          </a:p>
          <a:p>
            <a:r>
              <a:rPr lang="en-US" sz="2400" dirty="0"/>
              <a:t>To analyze and determine which individual products generate the highest contribution to total revenue</a:t>
            </a:r>
            <a:endParaRPr lang="en-IN" sz="2400" dirty="0"/>
          </a:p>
          <a:p>
            <a:pPr lvl="0"/>
            <a:r>
              <a:rPr lang="en-US" sz="2400" dirty="0"/>
              <a:t>Decision-makers are not aware of the trends in profit margins.</a:t>
            </a:r>
            <a:endParaRPr lang="en-IN" sz="2400" dirty="0"/>
          </a:p>
          <a:p>
            <a:r>
              <a:rPr lang="en-US" sz="2400" dirty="0"/>
              <a:t>Analyze the trend of sales growth periods and support data-driven price and business strategy decisions.</a:t>
            </a:r>
          </a:p>
          <a:p>
            <a:endParaRPr lang="en-IN" dirty="0"/>
          </a:p>
          <a:p>
            <a:endParaRPr lang="en-IN" dirty="0"/>
          </a:p>
          <a:p>
            <a:endParaRPr lang="en-US" dirty="0"/>
          </a:p>
        </p:txBody>
      </p:sp>
    </p:spTree>
    <p:extLst>
      <p:ext uri="{BB962C8B-B14F-4D97-AF65-F5344CB8AC3E}">
        <p14:creationId xmlns:p14="http://schemas.microsoft.com/office/powerpoint/2010/main" val="3811220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EF4CF-64EF-A13F-2284-381FB62FBB8D}"/>
              </a:ext>
            </a:extLst>
          </p:cNvPr>
          <p:cNvSpPr>
            <a:spLocks noGrp="1"/>
          </p:cNvSpPr>
          <p:nvPr>
            <p:ph type="title"/>
          </p:nvPr>
        </p:nvSpPr>
        <p:spPr/>
        <p:txBody>
          <a:bodyPr/>
          <a:lstStyle/>
          <a:p>
            <a:r>
              <a:rPr lang="en-IN" b="1" dirty="0"/>
              <a:t>Dataset Details – AdventureWorks</a:t>
            </a:r>
            <a:br>
              <a:rPr lang="en-IN" b="1" dirty="0"/>
            </a:br>
            <a:endParaRPr lang="en-IN" dirty="0"/>
          </a:p>
        </p:txBody>
      </p:sp>
      <p:sp>
        <p:nvSpPr>
          <p:cNvPr id="3" name="Text Placeholder 2">
            <a:extLst>
              <a:ext uri="{FF2B5EF4-FFF2-40B4-BE49-F238E27FC236}">
                <a16:creationId xmlns:a16="http://schemas.microsoft.com/office/drawing/2014/main" id="{3CCA60AC-18A3-A2F9-8292-965292BC7EE2}"/>
              </a:ext>
            </a:extLst>
          </p:cNvPr>
          <p:cNvSpPr>
            <a:spLocks noGrp="1"/>
          </p:cNvSpPr>
          <p:nvPr>
            <p:ph type="body" idx="1"/>
          </p:nvPr>
        </p:nvSpPr>
        <p:spPr>
          <a:xfrm>
            <a:off x="1154954" y="3411105"/>
            <a:ext cx="4825157" cy="394854"/>
          </a:xfrm>
        </p:spPr>
        <p:txBody>
          <a:bodyPr/>
          <a:lstStyle/>
          <a:p>
            <a:r>
              <a:rPr lang="en-IN" b="1" dirty="0"/>
              <a:t>Dataset  AdventureWorks Sales Dataset</a:t>
            </a:r>
          </a:p>
          <a:p>
            <a:endParaRPr lang="en-IN" dirty="0"/>
          </a:p>
        </p:txBody>
      </p:sp>
      <p:sp>
        <p:nvSpPr>
          <p:cNvPr id="4" name="Content Placeholder 3">
            <a:extLst>
              <a:ext uri="{FF2B5EF4-FFF2-40B4-BE49-F238E27FC236}">
                <a16:creationId xmlns:a16="http://schemas.microsoft.com/office/drawing/2014/main" id="{F7FD6121-CF49-7320-6036-D974FF13D428}"/>
              </a:ext>
            </a:extLst>
          </p:cNvPr>
          <p:cNvSpPr>
            <a:spLocks noGrp="1"/>
          </p:cNvSpPr>
          <p:nvPr>
            <p:ph sz="half" idx="2"/>
          </p:nvPr>
        </p:nvSpPr>
        <p:spPr>
          <a:xfrm>
            <a:off x="1030263" y="3489758"/>
            <a:ext cx="4825158" cy="2840039"/>
          </a:xfrm>
        </p:spPr>
        <p:txBody>
          <a:bodyPr>
            <a:normAutofit/>
          </a:bodyPr>
          <a:lstStyle/>
          <a:p>
            <a:r>
              <a:rPr lang="en-US" b="1" dirty="0"/>
              <a:t>Total Files:</a:t>
            </a:r>
            <a:r>
              <a:rPr lang="en-US" dirty="0"/>
              <a:t> 10 files</a:t>
            </a:r>
            <a:br>
              <a:rPr lang="en-US" dirty="0"/>
            </a:br>
            <a:r>
              <a:rPr lang="en-US" b="1" dirty="0"/>
              <a:t>File Type:</a:t>
            </a:r>
            <a:r>
              <a:rPr lang="en-US" dirty="0"/>
              <a:t> Excel (.xlsx) </a:t>
            </a:r>
          </a:p>
          <a:p>
            <a:r>
              <a:rPr lang="en-US" b="1" dirty="0"/>
              <a:t>Total Tables in Data Model:</a:t>
            </a:r>
            <a:r>
              <a:rPr lang="en-US" dirty="0"/>
              <a:t> 7 Tables</a:t>
            </a:r>
            <a:endParaRPr lang="en-IN" b="1" dirty="0"/>
          </a:p>
          <a:p>
            <a:r>
              <a:rPr lang="en-IN" b="1" dirty="0"/>
              <a:t>Total Records:</a:t>
            </a:r>
            <a:r>
              <a:rPr lang="en-IN" dirty="0"/>
              <a:t> 30,000–40,000 transactional records</a:t>
            </a:r>
          </a:p>
          <a:p>
            <a:r>
              <a:rPr lang="en-IN" b="1" dirty="0"/>
              <a:t>Time Period Covered:</a:t>
            </a:r>
            <a:r>
              <a:rPr lang="en-IN" dirty="0"/>
              <a:t> 2020 – 2022</a:t>
            </a:r>
          </a:p>
          <a:p>
            <a:r>
              <a:rPr lang="en-US" b="1" dirty="0"/>
              <a:t>Fact Tables: </a:t>
            </a:r>
            <a:r>
              <a:rPr lang="en-US" dirty="0"/>
              <a:t>AdventureWorks Sales Data (2020, 2021, 2022)</a:t>
            </a:r>
          </a:p>
          <a:p>
            <a:endParaRPr lang="en-IN" dirty="0"/>
          </a:p>
          <a:p>
            <a:endParaRPr lang="en-IN" dirty="0"/>
          </a:p>
          <a:p>
            <a:endParaRPr lang="en-IN" dirty="0"/>
          </a:p>
          <a:p>
            <a:endParaRPr lang="en-IN" dirty="0"/>
          </a:p>
        </p:txBody>
      </p:sp>
      <p:sp>
        <p:nvSpPr>
          <p:cNvPr id="5" name="Text Placeholder 4">
            <a:extLst>
              <a:ext uri="{FF2B5EF4-FFF2-40B4-BE49-F238E27FC236}">
                <a16:creationId xmlns:a16="http://schemas.microsoft.com/office/drawing/2014/main" id="{3A65F888-CFAA-2902-BE00-D33494251038}"/>
              </a:ext>
            </a:extLst>
          </p:cNvPr>
          <p:cNvSpPr>
            <a:spLocks noGrp="1"/>
          </p:cNvSpPr>
          <p:nvPr>
            <p:ph type="body" sz="quarter" idx="3"/>
          </p:nvPr>
        </p:nvSpPr>
        <p:spPr>
          <a:xfrm>
            <a:off x="6333403" y="3081482"/>
            <a:ext cx="4825159" cy="347518"/>
          </a:xfrm>
        </p:spPr>
        <p:txBody>
          <a:bodyPr/>
          <a:lstStyle/>
          <a:p>
            <a:r>
              <a:rPr lang="en-US" b="1" dirty="0"/>
              <a:t>Dimension Tables:</a:t>
            </a:r>
          </a:p>
          <a:p>
            <a:endParaRPr lang="en-IN" dirty="0"/>
          </a:p>
        </p:txBody>
      </p:sp>
      <p:sp>
        <p:nvSpPr>
          <p:cNvPr id="6" name="Content Placeholder 5">
            <a:extLst>
              <a:ext uri="{FF2B5EF4-FFF2-40B4-BE49-F238E27FC236}">
                <a16:creationId xmlns:a16="http://schemas.microsoft.com/office/drawing/2014/main" id="{E6E5C061-DC6F-0235-0B9A-1B4007B1CE4A}"/>
              </a:ext>
            </a:extLst>
          </p:cNvPr>
          <p:cNvSpPr>
            <a:spLocks noGrp="1"/>
          </p:cNvSpPr>
          <p:nvPr>
            <p:ph sz="quarter" idx="4"/>
          </p:nvPr>
        </p:nvSpPr>
        <p:spPr/>
        <p:txBody>
          <a:bodyPr>
            <a:normAutofit/>
          </a:bodyPr>
          <a:lstStyle/>
          <a:p>
            <a:pPr>
              <a:buFont typeface="Wingdings" panose="05000000000000000000" pitchFamily="2" charset="2"/>
              <a:buChar char="Ø"/>
            </a:pPr>
            <a:r>
              <a:rPr lang="en-US" b="1" dirty="0"/>
              <a:t>Customer Lookup</a:t>
            </a:r>
            <a:endParaRPr lang="en-US" dirty="0"/>
          </a:p>
          <a:p>
            <a:pPr>
              <a:buFont typeface="Wingdings" panose="05000000000000000000" pitchFamily="2" charset="2"/>
              <a:buChar char="Ø"/>
            </a:pPr>
            <a:r>
              <a:rPr lang="en-US" b="1" dirty="0"/>
              <a:t>Product Lookup</a:t>
            </a:r>
          </a:p>
          <a:p>
            <a:pPr>
              <a:buFont typeface="Wingdings" panose="05000000000000000000" pitchFamily="2" charset="2"/>
              <a:buChar char="Ø"/>
            </a:pPr>
            <a:r>
              <a:rPr lang="en-US" b="1" dirty="0"/>
              <a:t>Return Data</a:t>
            </a:r>
            <a:endParaRPr lang="en-US" dirty="0"/>
          </a:p>
          <a:p>
            <a:pPr>
              <a:buFont typeface="Wingdings" panose="05000000000000000000" pitchFamily="2" charset="2"/>
              <a:buChar char="Ø"/>
            </a:pPr>
            <a:r>
              <a:rPr lang="en-US" b="1" dirty="0"/>
              <a:t>Product Categories Lookup</a:t>
            </a:r>
            <a:endParaRPr lang="en-US" dirty="0"/>
          </a:p>
          <a:p>
            <a:pPr>
              <a:buFont typeface="Wingdings" panose="05000000000000000000" pitchFamily="2" charset="2"/>
              <a:buChar char="Ø"/>
            </a:pPr>
            <a:r>
              <a:rPr lang="en-US" b="1" dirty="0"/>
              <a:t>Product Subcategories Lookup</a:t>
            </a:r>
            <a:endParaRPr lang="en-US" dirty="0"/>
          </a:p>
          <a:p>
            <a:pPr>
              <a:buFont typeface="Wingdings" panose="05000000000000000000" pitchFamily="2" charset="2"/>
              <a:buChar char="Ø"/>
            </a:pPr>
            <a:r>
              <a:rPr lang="en-US" b="1" dirty="0"/>
              <a:t>Date Lookup – date data type</a:t>
            </a:r>
          </a:p>
          <a:p>
            <a:pPr>
              <a:buFont typeface="Wingdings" panose="05000000000000000000" pitchFamily="2" charset="2"/>
              <a:buChar char="Ø"/>
            </a:pPr>
            <a:r>
              <a:rPr lang="en-US" b="1" dirty="0"/>
              <a:t>Territory Lookup</a:t>
            </a:r>
            <a:endParaRPr lang="en-US" dirty="0"/>
          </a:p>
          <a:p>
            <a:pPr>
              <a:buFont typeface="Wingdings" panose="05000000000000000000" pitchFamily="2" charset="2"/>
              <a:buChar char="Ø"/>
            </a:pPr>
            <a:endParaRPr lang="en-US" dirty="0"/>
          </a:p>
          <a:p>
            <a:pPr>
              <a:buFont typeface="Wingdings" panose="05000000000000000000" pitchFamily="2" charset="2"/>
              <a:buChar char="Ø"/>
            </a:pPr>
            <a:endParaRPr lang="en-US" dirty="0"/>
          </a:p>
          <a:p>
            <a:endParaRPr lang="en-IN" dirty="0"/>
          </a:p>
        </p:txBody>
      </p:sp>
    </p:spTree>
    <p:extLst>
      <p:ext uri="{BB962C8B-B14F-4D97-AF65-F5344CB8AC3E}">
        <p14:creationId xmlns:p14="http://schemas.microsoft.com/office/powerpoint/2010/main" val="34448002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758CF-1688-FAE1-8B67-B5F1A5AFC9A6}"/>
              </a:ext>
            </a:extLst>
          </p:cNvPr>
          <p:cNvSpPr>
            <a:spLocks noGrp="1"/>
          </p:cNvSpPr>
          <p:nvPr>
            <p:ph type="title"/>
          </p:nvPr>
        </p:nvSpPr>
        <p:spPr>
          <a:xfrm>
            <a:off x="1051045" y="703504"/>
            <a:ext cx="8761413" cy="706964"/>
          </a:xfrm>
        </p:spPr>
        <p:txBody>
          <a:bodyPr/>
          <a:lstStyle/>
          <a:p>
            <a:br>
              <a:rPr lang="en-US" dirty="0"/>
            </a:br>
            <a:r>
              <a:rPr lang="en-US" sz="4400" dirty="0"/>
              <a:t>Key</a:t>
            </a:r>
            <a:r>
              <a:rPr lang="en-US" dirty="0"/>
              <a:t> </a:t>
            </a:r>
            <a:r>
              <a:rPr lang="en-US" sz="4400" dirty="0"/>
              <a:t>KPI Cards</a:t>
            </a:r>
            <a:endParaRPr lang="en-IN" dirty="0"/>
          </a:p>
        </p:txBody>
      </p:sp>
      <p:pic>
        <p:nvPicPr>
          <p:cNvPr id="5" name="Content Placeholder 4">
            <a:extLst>
              <a:ext uri="{FF2B5EF4-FFF2-40B4-BE49-F238E27FC236}">
                <a16:creationId xmlns:a16="http://schemas.microsoft.com/office/drawing/2014/main" id="{85D9AF40-8149-01C8-C1DF-0C109EB91B4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9700" y="4736838"/>
            <a:ext cx="9135306" cy="1417658"/>
          </a:xfrm>
          <a:ln w="57150">
            <a:solidFill>
              <a:schemeClr val="tx1">
                <a:lumMod val="85000"/>
                <a:lumOff val="15000"/>
              </a:schemeClr>
            </a:solidFill>
          </a:ln>
        </p:spPr>
      </p:pic>
      <p:pic>
        <p:nvPicPr>
          <p:cNvPr id="7" name="Picture 6">
            <a:extLst>
              <a:ext uri="{FF2B5EF4-FFF2-40B4-BE49-F238E27FC236}">
                <a16:creationId xmlns:a16="http://schemas.microsoft.com/office/drawing/2014/main" id="{BF69A32E-37E4-A7F9-44BE-D782DCBD62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397" y="2730882"/>
            <a:ext cx="7269654" cy="1252485"/>
          </a:xfrm>
          <a:prstGeom prst="rect">
            <a:avLst/>
          </a:prstGeom>
          <a:ln w="57150">
            <a:solidFill>
              <a:schemeClr val="tx1">
                <a:lumMod val="85000"/>
                <a:lumOff val="15000"/>
              </a:schemeClr>
            </a:solidFill>
          </a:ln>
        </p:spPr>
      </p:pic>
      <p:pic>
        <p:nvPicPr>
          <p:cNvPr id="3" name="Picture 2">
            <a:extLst>
              <a:ext uri="{FF2B5EF4-FFF2-40B4-BE49-F238E27FC236}">
                <a16:creationId xmlns:a16="http://schemas.microsoft.com/office/drawing/2014/main" id="{CFA3F98E-8C5C-7099-F561-88651D531045}"/>
              </a:ext>
            </a:extLst>
          </p:cNvPr>
          <p:cNvPicPr>
            <a:picLocks noChangeAspect="1"/>
          </p:cNvPicPr>
          <p:nvPr/>
        </p:nvPicPr>
        <p:blipFill>
          <a:blip r:embed="rId4"/>
          <a:stretch>
            <a:fillRect/>
          </a:stretch>
        </p:blipFill>
        <p:spPr>
          <a:xfrm>
            <a:off x="7602363" y="2296215"/>
            <a:ext cx="2124825" cy="1687152"/>
          </a:xfrm>
          <a:prstGeom prst="rect">
            <a:avLst/>
          </a:prstGeom>
          <a:ln w="19050">
            <a:solidFill>
              <a:schemeClr val="tx1"/>
            </a:solidFill>
          </a:ln>
        </p:spPr>
      </p:pic>
      <p:pic>
        <p:nvPicPr>
          <p:cNvPr id="8" name="Content Placeholder 7">
            <a:extLst>
              <a:ext uri="{FF2B5EF4-FFF2-40B4-BE49-F238E27FC236}">
                <a16:creationId xmlns:a16="http://schemas.microsoft.com/office/drawing/2014/main" id="{98C7CBF9-BD92-96D8-9BD9-32C650D01C61}"/>
              </a:ext>
            </a:extLst>
          </p:cNvPr>
          <p:cNvPicPr>
            <a:picLocks noChangeAspect="1"/>
          </p:cNvPicPr>
          <p:nvPr/>
        </p:nvPicPr>
        <p:blipFill>
          <a:blip r:embed="rId5"/>
          <a:stretch>
            <a:fillRect/>
          </a:stretch>
        </p:blipFill>
        <p:spPr>
          <a:xfrm>
            <a:off x="9936331" y="2308195"/>
            <a:ext cx="2124825" cy="1675172"/>
          </a:xfrm>
          <a:prstGeom prst="rect">
            <a:avLst/>
          </a:prstGeom>
          <a:ln w="19050">
            <a:solidFill>
              <a:schemeClr val="tx1"/>
            </a:solidFill>
          </a:ln>
        </p:spPr>
      </p:pic>
      <p:pic>
        <p:nvPicPr>
          <p:cNvPr id="11" name="Picture 10">
            <a:extLst>
              <a:ext uri="{FF2B5EF4-FFF2-40B4-BE49-F238E27FC236}">
                <a16:creationId xmlns:a16="http://schemas.microsoft.com/office/drawing/2014/main" id="{4421A61A-A473-B3AB-9B7F-1A5ED21A059E}"/>
              </a:ext>
            </a:extLst>
          </p:cNvPr>
          <p:cNvPicPr>
            <a:picLocks noChangeAspect="1"/>
          </p:cNvPicPr>
          <p:nvPr/>
        </p:nvPicPr>
        <p:blipFill>
          <a:blip r:embed="rId6"/>
          <a:stretch>
            <a:fillRect/>
          </a:stretch>
        </p:blipFill>
        <p:spPr>
          <a:xfrm>
            <a:off x="9458529" y="4595678"/>
            <a:ext cx="2163199" cy="1699978"/>
          </a:xfrm>
          <a:prstGeom prst="rect">
            <a:avLst/>
          </a:prstGeom>
          <a:ln w="19050">
            <a:solidFill>
              <a:schemeClr val="tx1"/>
            </a:solidFill>
          </a:ln>
        </p:spPr>
      </p:pic>
      <p:sp>
        <p:nvSpPr>
          <p:cNvPr id="6" name="TextBox 5">
            <a:extLst>
              <a:ext uri="{FF2B5EF4-FFF2-40B4-BE49-F238E27FC236}">
                <a16:creationId xmlns:a16="http://schemas.microsoft.com/office/drawing/2014/main" id="{A9FFAB3C-489A-DACC-85A3-C76A52611110}"/>
              </a:ext>
            </a:extLst>
          </p:cNvPr>
          <p:cNvSpPr txBox="1"/>
          <p:nvPr/>
        </p:nvSpPr>
        <p:spPr>
          <a:xfrm>
            <a:off x="7847412" y="3950492"/>
            <a:ext cx="1634726" cy="369332"/>
          </a:xfrm>
          <a:prstGeom prst="rect">
            <a:avLst/>
          </a:prstGeom>
          <a:noFill/>
        </p:spPr>
        <p:txBody>
          <a:bodyPr wrap="square" rtlCol="0">
            <a:spAutoFit/>
          </a:bodyPr>
          <a:lstStyle/>
          <a:p>
            <a:r>
              <a:rPr lang="en-IN" b="1" dirty="0"/>
              <a:t>Year -  2020</a:t>
            </a:r>
          </a:p>
        </p:txBody>
      </p:sp>
      <p:sp>
        <p:nvSpPr>
          <p:cNvPr id="9" name="TextBox 8">
            <a:extLst>
              <a:ext uri="{FF2B5EF4-FFF2-40B4-BE49-F238E27FC236}">
                <a16:creationId xmlns:a16="http://schemas.microsoft.com/office/drawing/2014/main" id="{C0E043A5-30BA-95BF-62FF-DD18AD8AA307}"/>
              </a:ext>
            </a:extLst>
          </p:cNvPr>
          <p:cNvSpPr txBox="1"/>
          <p:nvPr/>
        </p:nvSpPr>
        <p:spPr>
          <a:xfrm>
            <a:off x="10359297" y="3950492"/>
            <a:ext cx="1504464" cy="369332"/>
          </a:xfrm>
          <a:prstGeom prst="rect">
            <a:avLst/>
          </a:prstGeom>
          <a:noFill/>
        </p:spPr>
        <p:txBody>
          <a:bodyPr wrap="square" rtlCol="0">
            <a:spAutoFit/>
          </a:bodyPr>
          <a:lstStyle/>
          <a:p>
            <a:r>
              <a:rPr lang="en-IN" b="1" dirty="0"/>
              <a:t>Year -  2021</a:t>
            </a:r>
          </a:p>
        </p:txBody>
      </p:sp>
      <p:sp>
        <p:nvSpPr>
          <p:cNvPr id="12" name="TextBox 11">
            <a:extLst>
              <a:ext uri="{FF2B5EF4-FFF2-40B4-BE49-F238E27FC236}">
                <a16:creationId xmlns:a16="http://schemas.microsoft.com/office/drawing/2014/main" id="{DA4FB2F0-6A60-7FA3-5585-CE470FE93CA8}"/>
              </a:ext>
            </a:extLst>
          </p:cNvPr>
          <p:cNvSpPr txBox="1"/>
          <p:nvPr/>
        </p:nvSpPr>
        <p:spPr>
          <a:xfrm>
            <a:off x="9812458" y="6253865"/>
            <a:ext cx="1671451" cy="369332"/>
          </a:xfrm>
          <a:prstGeom prst="rect">
            <a:avLst/>
          </a:prstGeom>
          <a:noFill/>
        </p:spPr>
        <p:txBody>
          <a:bodyPr wrap="square" rtlCol="0">
            <a:spAutoFit/>
          </a:bodyPr>
          <a:lstStyle/>
          <a:p>
            <a:r>
              <a:rPr lang="en-IN" b="1" dirty="0"/>
              <a:t>Year -  2022</a:t>
            </a:r>
          </a:p>
        </p:txBody>
      </p:sp>
    </p:spTree>
    <p:extLst>
      <p:ext uri="{BB962C8B-B14F-4D97-AF65-F5344CB8AC3E}">
        <p14:creationId xmlns:p14="http://schemas.microsoft.com/office/powerpoint/2010/main" val="16932608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455E5-0FE4-26B0-0146-D19F01A52F29}"/>
              </a:ext>
            </a:extLst>
          </p:cNvPr>
          <p:cNvSpPr>
            <a:spLocks noGrp="1"/>
          </p:cNvSpPr>
          <p:nvPr>
            <p:ph type="title"/>
          </p:nvPr>
        </p:nvSpPr>
        <p:spPr/>
        <p:txBody>
          <a:bodyPr/>
          <a:lstStyle/>
          <a:p>
            <a:r>
              <a:rPr lang="en-US" dirty="0"/>
              <a:t>Sales Trends by Day, Month, Quarter &amp; Year and Sales Force</a:t>
            </a:r>
            <a:endParaRPr lang="en-IN" dirty="0"/>
          </a:p>
        </p:txBody>
      </p:sp>
      <p:pic>
        <p:nvPicPr>
          <p:cNvPr id="5" name="Picture 4">
            <a:extLst>
              <a:ext uri="{FF2B5EF4-FFF2-40B4-BE49-F238E27FC236}">
                <a16:creationId xmlns:a16="http://schemas.microsoft.com/office/drawing/2014/main" id="{1605AA5B-D26B-CD8E-C7AC-9FA4569BCE3B}"/>
              </a:ext>
            </a:extLst>
          </p:cNvPr>
          <p:cNvPicPr>
            <a:picLocks noChangeAspect="1"/>
          </p:cNvPicPr>
          <p:nvPr/>
        </p:nvPicPr>
        <p:blipFill>
          <a:blip r:embed="rId2"/>
          <a:stretch>
            <a:fillRect/>
          </a:stretch>
        </p:blipFill>
        <p:spPr>
          <a:xfrm>
            <a:off x="-1" y="571501"/>
            <a:ext cx="5974774" cy="4395354"/>
          </a:xfrm>
          <a:prstGeom prst="rect">
            <a:avLst/>
          </a:prstGeom>
          <a:ln w="28575">
            <a:noFill/>
          </a:ln>
        </p:spPr>
      </p:pic>
      <p:sp>
        <p:nvSpPr>
          <p:cNvPr id="9" name="Content Placeholder 8">
            <a:extLst>
              <a:ext uri="{FF2B5EF4-FFF2-40B4-BE49-F238E27FC236}">
                <a16:creationId xmlns:a16="http://schemas.microsoft.com/office/drawing/2014/main" id="{E103FBA3-923E-11D5-9952-1E9732C59212}"/>
              </a:ext>
            </a:extLst>
          </p:cNvPr>
          <p:cNvSpPr>
            <a:spLocks noGrp="1"/>
          </p:cNvSpPr>
          <p:nvPr>
            <p:ph idx="1"/>
          </p:nvPr>
        </p:nvSpPr>
        <p:spPr>
          <a:xfrm>
            <a:off x="179378" y="5099820"/>
            <a:ext cx="5869858" cy="961767"/>
          </a:xfrm>
        </p:spPr>
        <p:txBody>
          <a:bodyPr/>
          <a:lstStyle/>
          <a:p>
            <a:r>
              <a:rPr lang="en-US" b="1" dirty="0"/>
              <a:t>After a decline in mid-2020, net sales showed consistent recovery in </a:t>
            </a:r>
            <a:r>
              <a:rPr lang="en-US" b="1" dirty="0">
                <a:solidFill>
                  <a:srgbClr val="CC9900"/>
                </a:solidFill>
              </a:rPr>
              <a:t>2021</a:t>
            </a:r>
            <a:r>
              <a:rPr lang="en-US" b="1" dirty="0"/>
              <a:t> and achieved strong growth in 2022, reaching a high of </a:t>
            </a:r>
            <a:r>
              <a:rPr lang="en-US" b="1" dirty="0">
                <a:solidFill>
                  <a:schemeClr val="tx2">
                    <a:lumMod val="60000"/>
                    <a:lumOff val="40000"/>
                  </a:schemeClr>
                </a:solidFill>
              </a:rPr>
              <a:t>1.77M</a:t>
            </a:r>
            <a:r>
              <a:rPr lang="en-US" b="1" dirty="0"/>
              <a:t>.</a:t>
            </a:r>
            <a:endParaRPr lang="en-IN" b="1" dirty="0"/>
          </a:p>
        </p:txBody>
      </p:sp>
      <p:sp>
        <p:nvSpPr>
          <p:cNvPr id="18" name="Content Placeholder 8">
            <a:extLst>
              <a:ext uri="{FF2B5EF4-FFF2-40B4-BE49-F238E27FC236}">
                <a16:creationId xmlns:a16="http://schemas.microsoft.com/office/drawing/2014/main" id="{78A0A377-942D-5AAC-B065-FC847336025A}"/>
              </a:ext>
            </a:extLst>
          </p:cNvPr>
          <p:cNvSpPr txBox="1">
            <a:spLocks/>
          </p:cNvSpPr>
          <p:nvPr/>
        </p:nvSpPr>
        <p:spPr>
          <a:xfrm>
            <a:off x="6142766" y="5099820"/>
            <a:ext cx="5974774" cy="1178307"/>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n-US" b="1" dirty="0"/>
              <a:t>Sales are forecasted to stabilize between </a:t>
            </a:r>
            <a:r>
              <a:rPr lang="en-US" b="1" dirty="0">
                <a:solidFill>
                  <a:srgbClr val="027B7E"/>
                </a:solidFill>
              </a:rPr>
              <a:t>10.4M–11.7M</a:t>
            </a:r>
            <a:r>
              <a:rPr lang="en-US" b="1" dirty="0"/>
              <a:t> from 2023 to 2025, with a temporary seasonal dip to </a:t>
            </a:r>
            <a:r>
              <a:rPr lang="en-US" b="1" dirty="0">
                <a:solidFill>
                  <a:srgbClr val="027B7E"/>
                </a:solidFill>
              </a:rPr>
              <a:t>9.6M</a:t>
            </a:r>
            <a:r>
              <a:rPr lang="en-US" b="1" dirty="0"/>
              <a:t> in 2024.</a:t>
            </a:r>
            <a:endParaRPr lang="en-IN" b="1" dirty="0"/>
          </a:p>
        </p:txBody>
      </p:sp>
      <p:pic>
        <p:nvPicPr>
          <p:cNvPr id="4" name="Picture 3">
            <a:extLst>
              <a:ext uri="{FF2B5EF4-FFF2-40B4-BE49-F238E27FC236}">
                <a16:creationId xmlns:a16="http://schemas.microsoft.com/office/drawing/2014/main" id="{5395C214-DB0F-B907-9954-F2548CF1C5DD}"/>
              </a:ext>
            </a:extLst>
          </p:cNvPr>
          <p:cNvPicPr>
            <a:picLocks noChangeAspect="1"/>
          </p:cNvPicPr>
          <p:nvPr/>
        </p:nvPicPr>
        <p:blipFill>
          <a:blip r:embed="rId3"/>
          <a:stretch>
            <a:fillRect/>
          </a:stretch>
        </p:blipFill>
        <p:spPr>
          <a:xfrm>
            <a:off x="6359236" y="2337618"/>
            <a:ext cx="5653385" cy="2762202"/>
          </a:xfrm>
          <a:prstGeom prst="rect">
            <a:avLst/>
          </a:prstGeom>
          <a:ln w="12700">
            <a:solidFill>
              <a:schemeClr val="tx1"/>
            </a:solidFill>
          </a:ln>
        </p:spPr>
      </p:pic>
    </p:spTree>
    <p:extLst>
      <p:ext uri="{BB962C8B-B14F-4D97-AF65-F5344CB8AC3E}">
        <p14:creationId xmlns:p14="http://schemas.microsoft.com/office/powerpoint/2010/main" val="25295190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3BAD3-9DE8-11C4-B303-B0159EB1DB7D}"/>
              </a:ext>
            </a:extLst>
          </p:cNvPr>
          <p:cNvSpPr>
            <a:spLocks noGrp="1"/>
          </p:cNvSpPr>
          <p:nvPr>
            <p:ph type="title"/>
          </p:nvPr>
        </p:nvSpPr>
        <p:spPr/>
        <p:txBody>
          <a:bodyPr/>
          <a:lstStyle/>
          <a:p>
            <a:r>
              <a:rPr lang="en-US" dirty="0"/>
              <a:t>Analysis of top revenue-generating products, profitability comparison, and annual profit growth.</a:t>
            </a:r>
            <a:endParaRPr lang="en-IN" dirty="0"/>
          </a:p>
        </p:txBody>
      </p:sp>
      <p:pic>
        <p:nvPicPr>
          <p:cNvPr id="14" name="Picture 13">
            <a:extLst>
              <a:ext uri="{FF2B5EF4-FFF2-40B4-BE49-F238E27FC236}">
                <a16:creationId xmlns:a16="http://schemas.microsoft.com/office/drawing/2014/main" id="{5FD7DB2F-241A-2C43-BCC8-FDE6E37C31B2}"/>
              </a:ext>
            </a:extLst>
          </p:cNvPr>
          <p:cNvPicPr>
            <a:picLocks noChangeAspect="1"/>
          </p:cNvPicPr>
          <p:nvPr/>
        </p:nvPicPr>
        <p:blipFill>
          <a:blip r:embed="rId2"/>
          <a:stretch>
            <a:fillRect/>
          </a:stretch>
        </p:blipFill>
        <p:spPr>
          <a:xfrm>
            <a:off x="59774" y="2251587"/>
            <a:ext cx="6355315" cy="2880852"/>
          </a:xfrm>
          <a:prstGeom prst="rect">
            <a:avLst/>
          </a:prstGeom>
          <a:ln w="19050">
            <a:solidFill>
              <a:schemeClr val="tx1"/>
            </a:solidFill>
          </a:ln>
        </p:spPr>
      </p:pic>
      <p:sp>
        <p:nvSpPr>
          <p:cNvPr id="15" name="TextBox 14">
            <a:extLst>
              <a:ext uri="{FF2B5EF4-FFF2-40B4-BE49-F238E27FC236}">
                <a16:creationId xmlns:a16="http://schemas.microsoft.com/office/drawing/2014/main" id="{7F5AE4D2-EC59-071C-0AB0-D79FE402B064}"/>
              </a:ext>
            </a:extLst>
          </p:cNvPr>
          <p:cNvSpPr txBox="1"/>
          <p:nvPr/>
        </p:nvSpPr>
        <p:spPr>
          <a:xfrm>
            <a:off x="59774" y="5246144"/>
            <a:ext cx="6585124" cy="920022"/>
          </a:xfrm>
          <a:prstGeom prst="rect">
            <a:avLst/>
          </a:prstGeom>
          <a:noFill/>
        </p:spPr>
        <p:txBody>
          <a:bodyPr wrap="square" rtlCol="0">
            <a:spAutoFit/>
          </a:bodyPr>
          <a:lstStyle/>
          <a:p>
            <a:r>
              <a:rPr lang="en-US" b="1" dirty="0"/>
              <a:t>The top three products are </a:t>
            </a:r>
            <a:r>
              <a:rPr lang="en-US" b="1" dirty="0">
                <a:solidFill>
                  <a:schemeClr val="accent5">
                    <a:lumMod val="75000"/>
                  </a:schemeClr>
                </a:solidFill>
              </a:rPr>
              <a:t>Mountain -200 Black (sizes 46 and 42)</a:t>
            </a:r>
            <a:r>
              <a:rPr lang="en-US" b="1" dirty="0"/>
              <a:t> tied at 0.55M gross profit each, followed by Mountain-200 Silver, 38 at 0.54M</a:t>
            </a:r>
            <a:endParaRPr lang="en-IN" dirty="0"/>
          </a:p>
        </p:txBody>
      </p:sp>
      <p:pic>
        <p:nvPicPr>
          <p:cNvPr id="17" name="Picture 16">
            <a:extLst>
              <a:ext uri="{FF2B5EF4-FFF2-40B4-BE49-F238E27FC236}">
                <a16:creationId xmlns:a16="http://schemas.microsoft.com/office/drawing/2014/main" id="{9E19DFD1-9A4E-3D85-6328-5413C75D1A32}"/>
              </a:ext>
            </a:extLst>
          </p:cNvPr>
          <p:cNvPicPr>
            <a:picLocks noChangeAspect="1"/>
          </p:cNvPicPr>
          <p:nvPr/>
        </p:nvPicPr>
        <p:blipFill>
          <a:blip r:embed="rId3"/>
          <a:stretch>
            <a:fillRect/>
          </a:stretch>
        </p:blipFill>
        <p:spPr>
          <a:xfrm>
            <a:off x="6587643" y="2251587"/>
            <a:ext cx="5544583" cy="2880852"/>
          </a:xfrm>
          <a:prstGeom prst="rect">
            <a:avLst/>
          </a:prstGeom>
          <a:ln w="19050">
            <a:solidFill>
              <a:schemeClr val="tx1">
                <a:lumMod val="85000"/>
                <a:lumOff val="15000"/>
              </a:schemeClr>
            </a:solidFill>
          </a:ln>
        </p:spPr>
      </p:pic>
      <p:sp>
        <p:nvSpPr>
          <p:cNvPr id="18" name="TextBox 17">
            <a:extLst>
              <a:ext uri="{FF2B5EF4-FFF2-40B4-BE49-F238E27FC236}">
                <a16:creationId xmlns:a16="http://schemas.microsoft.com/office/drawing/2014/main" id="{60F0F028-D9D7-5CD8-D6E8-FFA01A180524}"/>
              </a:ext>
            </a:extLst>
          </p:cNvPr>
          <p:cNvSpPr txBox="1"/>
          <p:nvPr/>
        </p:nvSpPr>
        <p:spPr>
          <a:xfrm>
            <a:off x="6865696" y="5246144"/>
            <a:ext cx="5326304" cy="369332"/>
          </a:xfrm>
          <a:prstGeom prst="rect">
            <a:avLst/>
          </a:prstGeom>
          <a:noFill/>
        </p:spPr>
        <p:txBody>
          <a:bodyPr wrap="square" rtlCol="0">
            <a:spAutoFit/>
          </a:bodyPr>
          <a:lstStyle/>
          <a:p>
            <a:r>
              <a:rPr lang="en-US" b="1" dirty="0">
                <a:solidFill>
                  <a:srgbClr val="00863D"/>
                </a:solidFill>
              </a:rPr>
              <a:t>56% </a:t>
            </a:r>
            <a:r>
              <a:rPr lang="en-US" b="1" dirty="0"/>
              <a:t>increase year over year for profit growth</a:t>
            </a:r>
            <a:endParaRPr lang="en-IN" b="1" dirty="0"/>
          </a:p>
        </p:txBody>
      </p:sp>
    </p:spTree>
    <p:extLst>
      <p:ext uri="{BB962C8B-B14F-4D97-AF65-F5344CB8AC3E}">
        <p14:creationId xmlns:p14="http://schemas.microsoft.com/office/powerpoint/2010/main" val="8501665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7DA76-5C53-F202-FB52-F43C1B9C2A1C}"/>
              </a:ext>
            </a:extLst>
          </p:cNvPr>
          <p:cNvSpPr>
            <a:spLocks noGrp="1"/>
          </p:cNvSpPr>
          <p:nvPr>
            <p:ph type="title"/>
          </p:nvPr>
        </p:nvSpPr>
        <p:spPr/>
        <p:txBody>
          <a:bodyPr/>
          <a:lstStyle/>
          <a:p>
            <a:r>
              <a:rPr lang="en-US" dirty="0"/>
              <a:t>Top Revenue and Volume-Growing Product Types and Categories</a:t>
            </a:r>
            <a:endParaRPr lang="en-IN" dirty="0"/>
          </a:p>
        </p:txBody>
      </p:sp>
      <p:pic>
        <p:nvPicPr>
          <p:cNvPr id="5" name="Picture 4">
            <a:extLst>
              <a:ext uri="{FF2B5EF4-FFF2-40B4-BE49-F238E27FC236}">
                <a16:creationId xmlns:a16="http://schemas.microsoft.com/office/drawing/2014/main" id="{26A7A4BE-9067-E6CD-4517-D94751D19D3E}"/>
              </a:ext>
            </a:extLst>
          </p:cNvPr>
          <p:cNvPicPr>
            <a:picLocks noChangeAspect="1"/>
          </p:cNvPicPr>
          <p:nvPr/>
        </p:nvPicPr>
        <p:blipFill>
          <a:blip r:embed="rId2"/>
          <a:stretch>
            <a:fillRect/>
          </a:stretch>
        </p:blipFill>
        <p:spPr>
          <a:xfrm>
            <a:off x="255867" y="2231923"/>
            <a:ext cx="5935104" cy="3410341"/>
          </a:xfrm>
          <a:prstGeom prst="rect">
            <a:avLst/>
          </a:prstGeom>
          <a:ln w="12700">
            <a:solidFill>
              <a:schemeClr val="tx1"/>
            </a:solidFill>
          </a:ln>
        </p:spPr>
      </p:pic>
      <p:pic>
        <p:nvPicPr>
          <p:cNvPr id="7" name="Picture 6">
            <a:extLst>
              <a:ext uri="{FF2B5EF4-FFF2-40B4-BE49-F238E27FC236}">
                <a16:creationId xmlns:a16="http://schemas.microsoft.com/office/drawing/2014/main" id="{E0124926-EF8A-A3D1-08AD-504297B94A18}"/>
              </a:ext>
            </a:extLst>
          </p:cNvPr>
          <p:cNvPicPr>
            <a:picLocks noChangeAspect="1"/>
          </p:cNvPicPr>
          <p:nvPr/>
        </p:nvPicPr>
        <p:blipFill>
          <a:blip r:embed="rId3"/>
          <a:stretch>
            <a:fillRect/>
          </a:stretch>
        </p:blipFill>
        <p:spPr>
          <a:xfrm>
            <a:off x="6513537" y="2192176"/>
            <a:ext cx="5422596" cy="3489833"/>
          </a:xfrm>
          <a:prstGeom prst="rect">
            <a:avLst/>
          </a:prstGeom>
          <a:ln w="12700">
            <a:solidFill>
              <a:schemeClr val="tx1"/>
            </a:solidFill>
          </a:ln>
        </p:spPr>
      </p:pic>
      <p:sp>
        <p:nvSpPr>
          <p:cNvPr id="10" name="TextBox 9">
            <a:extLst>
              <a:ext uri="{FF2B5EF4-FFF2-40B4-BE49-F238E27FC236}">
                <a16:creationId xmlns:a16="http://schemas.microsoft.com/office/drawing/2014/main" id="{FE9E6634-B18C-1031-252E-31C3DCBFBD0F}"/>
              </a:ext>
            </a:extLst>
          </p:cNvPr>
          <p:cNvSpPr txBox="1"/>
          <p:nvPr/>
        </p:nvSpPr>
        <p:spPr>
          <a:xfrm>
            <a:off x="1080656" y="5756565"/>
            <a:ext cx="9746672" cy="923330"/>
          </a:xfrm>
          <a:prstGeom prst="rect">
            <a:avLst/>
          </a:prstGeom>
          <a:noFill/>
        </p:spPr>
        <p:txBody>
          <a:bodyPr wrap="square" rtlCol="0">
            <a:spAutoFit/>
          </a:bodyPr>
          <a:lstStyle/>
          <a:p>
            <a:r>
              <a:rPr lang="en-US" b="1" dirty="0"/>
              <a:t>Sales are primarily driven by </a:t>
            </a:r>
            <a:r>
              <a:rPr lang="en-US" b="1" dirty="0">
                <a:solidFill>
                  <a:schemeClr val="accent6">
                    <a:lumMod val="50000"/>
                  </a:schemeClr>
                </a:solidFill>
              </a:rPr>
              <a:t>Bikes</a:t>
            </a:r>
            <a:r>
              <a:rPr lang="en-US" b="1" dirty="0"/>
              <a:t>, while profitability is led by</a:t>
            </a:r>
            <a:r>
              <a:rPr lang="en-US" b="1" dirty="0">
                <a:solidFill>
                  <a:schemeClr val="accent3">
                    <a:lumMod val="75000"/>
                  </a:schemeClr>
                </a:solidFill>
              </a:rPr>
              <a:t> Accessories</a:t>
            </a:r>
            <a:r>
              <a:rPr lang="en-US" b="1" dirty="0"/>
              <a:t>, which contribute 42.3% of total profit, highlighting a clear difference between sales volume and profit contribution.</a:t>
            </a:r>
            <a:endParaRPr lang="en-IN" b="1" dirty="0"/>
          </a:p>
        </p:txBody>
      </p:sp>
    </p:spTree>
    <p:extLst>
      <p:ext uri="{BB962C8B-B14F-4D97-AF65-F5344CB8AC3E}">
        <p14:creationId xmlns:p14="http://schemas.microsoft.com/office/powerpoint/2010/main" val="3986472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BF71E-A96A-2EE4-70B3-9BC4CDFEFE88}"/>
              </a:ext>
            </a:extLst>
          </p:cNvPr>
          <p:cNvSpPr>
            <a:spLocks noGrp="1"/>
          </p:cNvSpPr>
          <p:nvPr>
            <p:ph type="title"/>
          </p:nvPr>
        </p:nvSpPr>
        <p:spPr/>
        <p:txBody>
          <a:bodyPr/>
          <a:lstStyle/>
          <a:p>
            <a:r>
              <a:rPr lang="en-US" dirty="0"/>
              <a:t>Key Customer Trends in Terms of Purchase Behavior, Colors, and Product Models</a:t>
            </a:r>
            <a:endParaRPr lang="en-IN" dirty="0"/>
          </a:p>
        </p:txBody>
      </p:sp>
      <p:pic>
        <p:nvPicPr>
          <p:cNvPr id="5" name="Picture 4">
            <a:extLst>
              <a:ext uri="{FF2B5EF4-FFF2-40B4-BE49-F238E27FC236}">
                <a16:creationId xmlns:a16="http://schemas.microsoft.com/office/drawing/2014/main" id="{C1F6C908-33B4-ED39-0153-D6AC2EA85FE6}"/>
              </a:ext>
            </a:extLst>
          </p:cNvPr>
          <p:cNvPicPr>
            <a:picLocks noChangeAspect="1"/>
          </p:cNvPicPr>
          <p:nvPr/>
        </p:nvPicPr>
        <p:blipFill>
          <a:blip r:embed="rId2"/>
          <a:stretch>
            <a:fillRect/>
          </a:stretch>
        </p:blipFill>
        <p:spPr>
          <a:xfrm>
            <a:off x="112524" y="2225803"/>
            <a:ext cx="4937817" cy="2617989"/>
          </a:xfrm>
          <a:prstGeom prst="rect">
            <a:avLst/>
          </a:prstGeom>
          <a:ln w="12700">
            <a:solidFill>
              <a:schemeClr val="tx1"/>
            </a:solidFill>
          </a:ln>
        </p:spPr>
      </p:pic>
      <p:pic>
        <p:nvPicPr>
          <p:cNvPr id="7" name="Picture 6">
            <a:extLst>
              <a:ext uri="{FF2B5EF4-FFF2-40B4-BE49-F238E27FC236}">
                <a16:creationId xmlns:a16="http://schemas.microsoft.com/office/drawing/2014/main" id="{E7B46F58-66A2-1084-62AC-0B77E10A0F46}"/>
              </a:ext>
            </a:extLst>
          </p:cNvPr>
          <p:cNvPicPr>
            <a:picLocks noChangeAspect="1"/>
          </p:cNvPicPr>
          <p:nvPr/>
        </p:nvPicPr>
        <p:blipFill>
          <a:blip r:embed="rId3"/>
          <a:stretch>
            <a:fillRect/>
          </a:stretch>
        </p:blipFill>
        <p:spPr>
          <a:xfrm>
            <a:off x="6539760" y="3923071"/>
            <a:ext cx="5539716" cy="2934929"/>
          </a:xfrm>
          <a:prstGeom prst="rect">
            <a:avLst/>
          </a:prstGeom>
          <a:ln w="19050">
            <a:solidFill>
              <a:schemeClr val="tx1"/>
            </a:solidFill>
          </a:ln>
        </p:spPr>
      </p:pic>
      <p:sp>
        <p:nvSpPr>
          <p:cNvPr id="8" name="TextBox 7">
            <a:extLst>
              <a:ext uri="{FF2B5EF4-FFF2-40B4-BE49-F238E27FC236}">
                <a16:creationId xmlns:a16="http://schemas.microsoft.com/office/drawing/2014/main" id="{36B33C6A-F175-3C43-CC5C-6ADB54D97D68}"/>
              </a:ext>
            </a:extLst>
          </p:cNvPr>
          <p:cNvSpPr txBox="1"/>
          <p:nvPr/>
        </p:nvSpPr>
        <p:spPr>
          <a:xfrm>
            <a:off x="5123077" y="2211359"/>
            <a:ext cx="6859418" cy="1323439"/>
          </a:xfrm>
          <a:prstGeom prst="rect">
            <a:avLst/>
          </a:prstGeom>
          <a:noFill/>
        </p:spPr>
        <p:txBody>
          <a:bodyPr wrap="square" rtlCol="0">
            <a:spAutoFit/>
          </a:bodyPr>
          <a:lstStyle/>
          <a:p>
            <a:r>
              <a:rPr lang="en-US" sz="2000" b="1" dirty="0">
                <a:solidFill>
                  <a:schemeClr val="accent4"/>
                </a:solidFill>
              </a:rPr>
              <a:t>Sport100</a:t>
            </a:r>
            <a:r>
              <a:rPr lang="en-US" sz="2000" b="1" dirty="0"/>
              <a:t> dominates customer preference with 26% of  total orders, followed by </a:t>
            </a:r>
            <a:r>
              <a:rPr lang="en-US" sz="2000" b="1" dirty="0">
                <a:solidFill>
                  <a:srgbClr val="CC9900"/>
                </a:solidFill>
              </a:rPr>
              <a:t>Water Bottle and Mountain -200</a:t>
            </a:r>
            <a:r>
              <a:rPr lang="en-US" sz="2000" b="1" dirty="0"/>
              <a:t>, highlighting demand concentration in a few key models.</a:t>
            </a:r>
            <a:endParaRPr lang="en-IN" sz="2000" dirty="0"/>
          </a:p>
        </p:txBody>
      </p:sp>
      <p:sp>
        <p:nvSpPr>
          <p:cNvPr id="9" name="TextBox 8">
            <a:extLst>
              <a:ext uri="{FF2B5EF4-FFF2-40B4-BE49-F238E27FC236}">
                <a16:creationId xmlns:a16="http://schemas.microsoft.com/office/drawing/2014/main" id="{CB59A737-5A53-E3F4-E31C-BA4714C3E36E}"/>
              </a:ext>
            </a:extLst>
          </p:cNvPr>
          <p:cNvSpPr txBox="1"/>
          <p:nvPr/>
        </p:nvSpPr>
        <p:spPr>
          <a:xfrm>
            <a:off x="185260" y="5252053"/>
            <a:ext cx="6589614" cy="1323439"/>
          </a:xfrm>
          <a:prstGeom prst="rect">
            <a:avLst/>
          </a:prstGeom>
          <a:noFill/>
        </p:spPr>
        <p:txBody>
          <a:bodyPr wrap="square" rtlCol="0">
            <a:spAutoFit/>
          </a:bodyPr>
          <a:lstStyle/>
          <a:p>
            <a:r>
              <a:rPr lang="en-US" sz="2000" b="1" dirty="0">
                <a:solidFill>
                  <a:schemeClr val="accent6">
                    <a:lumMod val="50000"/>
                  </a:schemeClr>
                </a:solidFill>
              </a:rPr>
              <a:t>Black </a:t>
            </a:r>
            <a:r>
              <a:rPr lang="en-US" sz="2000" b="1" dirty="0"/>
              <a:t>clearly dominates customer preference with nearly one third of total orders, followed by</a:t>
            </a:r>
            <a:r>
              <a:rPr lang="en-US" sz="2000" b="1" dirty="0">
                <a:solidFill>
                  <a:srgbClr val="FFC000"/>
                </a:solidFill>
              </a:rPr>
              <a:t> yellow </a:t>
            </a:r>
            <a:r>
              <a:rPr lang="en-US" sz="2000" b="1" dirty="0"/>
              <a:t>and </a:t>
            </a:r>
            <a:r>
              <a:rPr lang="en-US" sz="2000" b="1" dirty="0">
                <a:solidFill>
                  <a:schemeClr val="accent3"/>
                </a:solidFill>
              </a:rPr>
              <a:t>red </a:t>
            </a:r>
            <a:r>
              <a:rPr lang="en-US" sz="2000" b="1" dirty="0"/>
              <a:t>at   equal levels of demand.</a:t>
            </a:r>
            <a:endParaRPr lang="en-IN" sz="2000" dirty="0"/>
          </a:p>
        </p:txBody>
      </p:sp>
    </p:spTree>
    <p:extLst>
      <p:ext uri="{BB962C8B-B14F-4D97-AF65-F5344CB8AC3E}">
        <p14:creationId xmlns:p14="http://schemas.microsoft.com/office/powerpoint/2010/main" val="30659282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0F387-20C7-C6AF-8C15-9519E8BA649B}"/>
              </a:ext>
            </a:extLst>
          </p:cNvPr>
          <p:cNvSpPr>
            <a:spLocks noGrp="1"/>
          </p:cNvSpPr>
          <p:nvPr>
            <p:ph type="title"/>
          </p:nvPr>
        </p:nvSpPr>
        <p:spPr/>
        <p:txBody>
          <a:bodyPr/>
          <a:lstStyle/>
          <a:p>
            <a:r>
              <a:rPr lang="en-US" dirty="0"/>
              <a:t>Net Sales Across Regions and AOV by Demographics and Products</a:t>
            </a:r>
            <a:endParaRPr lang="en-IN" dirty="0"/>
          </a:p>
        </p:txBody>
      </p:sp>
      <p:pic>
        <p:nvPicPr>
          <p:cNvPr id="11" name="Picture 10">
            <a:extLst>
              <a:ext uri="{FF2B5EF4-FFF2-40B4-BE49-F238E27FC236}">
                <a16:creationId xmlns:a16="http://schemas.microsoft.com/office/drawing/2014/main" id="{98C39AB7-D391-019D-EB98-3FE57AB7CF96}"/>
              </a:ext>
            </a:extLst>
          </p:cNvPr>
          <p:cNvPicPr>
            <a:picLocks noChangeAspect="1"/>
          </p:cNvPicPr>
          <p:nvPr/>
        </p:nvPicPr>
        <p:blipFill>
          <a:blip r:embed="rId2"/>
          <a:stretch>
            <a:fillRect/>
          </a:stretch>
        </p:blipFill>
        <p:spPr>
          <a:xfrm>
            <a:off x="6096000" y="4230891"/>
            <a:ext cx="5866927" cy="2466581"/>
          </a:xfrm>
          <a:prstGeom prst="rect">
            <a:avLst/>
          </a:prstGeom>
          <a:ln w="19050">
            <a:solidFill>
              <a:schemeClr val="tx1">
                <a:lumMod val="75000"/>
                <a:lumOff val="25000"/>
              </a:schemeClr>
            </a:solidFill>
          </a:ln>
        </p:spPr>
      </p:pic>
      <p:sp>
        <p:nvSpPr>
          <p:cNvPr id="3" name="TextBox 2">
            <a:extLst>
              <a:ext uri="{FF2B5EF4-FFF2-40B4-BE49-F238E27FC236}">
                <a16:creationId xmlns:a16="http://schemas.microsoft.com/office/drawing/2014/main" id="{2719B186-2195-EC8C-45AE-7A9308B43F87}"/>
              </a:ext>
            </a:extLst>
          </p:cNvPr>
          <p:cNvSpPr txBox="1"/>
          <p:nvPr/>
        </p:nvSpPr>
        <p:spPr>
          <a:xfrm>
            <a:off x="5084445" y="2280720"/>
            <a:ext cx="7107556" cy="1200329"/>
          </a:xfrm>
          <a:prstGeom prst="rect">
            <a:avLst/>
          </a:prstGeom>
          <a:noFill/>
        </p:spPr>
        <p:txBody>
          <a:bodyPr wrap="square" rtlCol="0">
            <a:spAutoFit/>
          </a:bodyPr>
          <a:lstStyle/>
          <a:p>
            <a:r>
              <a:rPr lang="en-US" b="1" dirty="0">
                <a:solidFill>
                  <a:srgbClr val="0033CC"/>
                </a:solidFill>
              </a:rPr>
              <a:t>North America </a:t>
            </a:r>
            <a:r>
              <a:rPr lang="en-US" b="1" dirty="0"/>
              <a:t>and </a:t>
            </a:r>
            <a:r>
              <a:rPr lang="en-US" b="1" dirty="0">
                <a:solidFill>
                  <a:schemeClr val="accent4"/>
                </a:solidFill>
              </a:rPr>
              <a:t>Europe</a:t>
            </a:r>
            <a:r>
              <a:rPr lang="en-US" b="1" dirty="0"/>
              <a:t> show strong net sales at 9.43M and 7.54M respectively, while the Central region records the lowest at 3,143.06. Overall, net sales across regions range from 3,143.06 to 71,76,275.74.</a:t>
            </a:r>
            <a:endParaRPr lang="en-IN" b="1" dirty="0"/>
          </a:p>
        </p:txBody>
      </p:sp>
      <p:sp>
        <p:nvSpPr>
          <p:cNvPr id="4" name="TextBox 3">
            <a:extLst>
              <a:ext uri="{FF2B5EF4-FFF2-40B4-BE49-F238E27FC236}">
                <a16:creationId xmlns:a16="http://schemas.microsoft.com/office/drawing/2014/main" id="{AF305BE5-F73E-F3A1-AE31-DFC899A611F2}"/>
              </a:ext>
            </a:extLst>
          </p:cNvPr>
          <p:cNvSpPr txBox="1"/>
          <p:nvPr/>
        </p:nvSpPr>
        <p:spPr>
          <a:xfrm>
            <a:off x="229073" y="5396618"/>
            <a:ext cx="6070127" cy="1200329"/>
          </a:xfrm>
          <a:prstGeom prst="rect">
            <a:avLst/>
          </a:prstGeom>
          <a:noFill/>
        </p:spPr>
        <p:txBody>
          <a:bodyPr wrap="square" rtlCol="0">
            <a:spAutoFit/>
          </a:bodyPr>
          <a:lstStyle/>
          <a:p>
            <a:r>
              <a:rPr lang="en-US" b="1" dirty="0"/>
              <a:t>Highlights how </a:t>
            </a:r>
            <a:r>
              <a:rPr lang="en-US" b="1" dirty="0">
                <a:solidFill>
                  <a:schemeClr val="accent1">
                    <a:lumMod val="75000"/>
                  </a:schemeClr>
                </a:solidFill>
              </a:rPr>
              <a:t>average basket size </a:t>
            </a:r>
            <a:r>
              <a:rPr lang="en-US" b="1" dirty="0"/>
              <a:t>varies by occupation and gender, influenced by product and color preferences, revealing distinct customer buying patterns.</a:t>
            </a:r>
            <a:endParaRPr lang="en-IN" b="1" dirty="0"/>
          </a:p>
        </p:txBody>
      </p:sp>
      <p:pic>
        <p:nvPicPr>
          <p:cNvPr id="7" name="Picture 6">
            <a:extLst>
              <a:ext uri="{FF2B5EF4-FFF2-40B4-BE49-F238E27FC236}">
                <a16:creationId xmlns:a16="http://schemas.microsoft.com/office/drawing/2014/main" id="{64592D93-7311-4D67-8E96-2DFE5ADE7088}"/>
              </a:ext>
            </a:extLst>
          </p:cNvPr>
          <p:cNvPicPr>
            <a:picLocks noChangeAspect="1"/>
          </p:cNvPicPr>
          <p:nvPr/>
        </p:nvPicPr>
        <p:blipFill>
          <a:blip r:embed="rId3"/>
          <a:stretch>
            <a:fillRect/>
          </a:stretch>
        </p:blipFill>
        <p:spPr>
          <a:xfrm>
            <a:off x="83129" y="2220779"/>
            <a:ext cx="5001316" cy="2416441"/>
          </a:xfrm>
          <a:prstGeom prst="rect">
            <a:avLst/>
          </a:prstGeom>
          <a:ln w="19050">
            <a:solidFill>
              <a:schemeClr val="tx1"/>
            </a:solidFill>
          </a:ln>
        </p:spPr>
      </p:pic>
    </p:spTree>
    <p:extLst>
      <p:ext uri="{BB962C8B-B14F-4D97-AF65-F5344CB8AC3E}">
        <p14:creationId xmlns:p14="http://schemas.microsoft.com/office/powerpoint/2010/main" val="8572233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2E010-DDEF-D417-715F-6D9A0E57AB80}"/>
              </a:ext>
            </a:extLst>
          </p:cNvPr>
          <p:cNvSpPr>
            <a:spLocks noGrp="1"/>
          </p:cNvSpPr>
          <p:nvPr>
            <p:ph type="title"/>
          </p:nvPr>
        </p:nvSpPr>
        <p:spPr/>
        <p:txBody>
          <a:bodyPr/>
          <a:lstStyle/>
          <a:p>
            <a:r>
              <a:rPr lang="en-IN" dirty="0"/>
              <a:t>Summary</a:t>
            </a:r>
          </a:p>
        </p:txBody>
      </p:sp>
      <p:sp>
        <p:nvSpPr>
          <p:cNvPr id="3" name="Content Placeholder 2">
            <a:extLst>
              <a:ext uri="{FF2B5EF4-FFF2-40B4-BE49-F238E27FC236}">
                <a16:creationId xmlns:a16="http://schemas.microsoft.com/office/drawing/2014/main" id="{32865749-2D79-7508-C241-53161AD7D13C}"/>
              </a:ext>
            </a:extLst>
          </p:cNvPr>
          <p:cNvSpPr>
            <a:spLocks noGrp="1"/>
          </p:cNvSpPr>
          <p:nvPr>
            <p:ph idx="1"/>
          </p:nvPr>
        </p:nvSpPr>
        <p:spPr>
          <a:xfrm>
            <a:off x="78658" y="2271252"/>
            <a:ext cx="11975690" cy="4473676"/>
          </a:xfrm>
        </p:spPr>
        <p:txBody>
          <a:bodyPr>
            <a:normAutofit/>
          </a:bodyPr>
          <a:lstStyle/>
          <a:p>
            <a:r>
              <a:rPr lang="en-US" dirty="0"/>
              <a:t>Net sales peaked in 2022, recording a </a:t>
            </a:r>
            <a:r>
              <a:rPr lang="en-US" b="1" dirty="0"/>
              <a:t>168% increase compared to 2020</a:t>
            </a:r>
            <a:r>
              <a:rPr lang="en-US" dirty="0"/>
              <a:t> and a </a:t>
            </a:r>
            <a:r>
              <a:rPr lang="en-US" b="1" dirty="0"/>
              <a:t>79% increase over 2021</a:t>
            </a:r>
            <a:r>
              <a:rPr lang="en-US" dirty="0"/>
              <a:t>, indicating strong and accelerated business growth.</a:t>
            </a:r>
          </a:p>
          <a:p>
            <a:endParaRPr lang="en-US" dirty="0"/>
          </a:p>
          <a:p>
            <a:r>
              <a:rPr lang="en-US" dirty="0"/>
              <a:t>Based on the three-year forecast, sales are expected to grow significantly, showing an </a:t>
            </a:r>
            <a:r>
              <a:rPr lang="en-US" b="1" dirty="0"/>
              <a:t>overall increase of  677% from 2022 levels</a:t>
            </a:r>
            <a:r>
              <a:rPr lang="en-US" dirty="0"/>
              <a:t>, with sales stabilizing between </a:t>
            </a:r>
            <a:r>
              <a:rPr lang="en-US" b="1" dirty="0"/>
              <a:t>12.5M and 15M during 2023–2025</a:t>
            </a:r>
            <a:r>
              <a:rPr lang="en-US" dirty="0"/>
              <a:t>.</a:t>
            </a:r>
          </a:p>
          <a:p>
            <a:endParaRPr lang="en-US" dirty="0"/>
          </a:p>
          <a:p>
            <a:r>
              <a:rPr lang="en-US" dirty="0"/>
              <a:t>Total orders spiked from </a:t>
            </a:r>
            <a:r>
              <a:rPr lang="en-US" b="1" dirty="0"/>
              <a:t>2.4K in 2020 to 10.9K in 2021</a:t>
            </a:r>
            <a:r>
              <a:rPr lang="en-US" dirty="0"/>
              <a:t>, then slightly declined to </a:t>
            </a:r>
            <a:r>
              <a:rPr lang="en-US" b="1" dirty="0"/>
              <a:t>8.9K in 2022</a:t>
            </a:r>
            <a:r>
              <a:rPr lang="en-US" dirty="0"/>
              <a:t>, indicating demand stabilization after rapid </a:t>
            </a:r>
            <a:r>
              <a:rPr lang="en-US"/>
              <a:t>growth.</a:t>
            </a:r>
          </a:p>
          <a:p>
            <a:endParaRPr lang="en-US" dirty="0"/>
          </a:p>
          <a:p>
            <a:r>
              <a:rPr lang="en-US" b="1" dirty="0"/>
              <a:t>Mountain products are strong investment opportunities</a:t>
            </a:r>
            <a:r>
              <a:rPr lang="en-US" dirty="0"/>
              <a:t>, with Mountain-200 Black (sizes 46 &amp; 42) and Mountain-200 Silver driving the highest gross profit. Consistent demand and positive sales growth support </a:t>
            </a:r>
            <a:r>
              <a:rPr lang="en-US" b="1" dirty="0"/>
              <a:t>increased investment to maximize future returns</a:t>
            </a:r>
            <a:r>
              <a:rPr lang="en-US" dirty="0"/>
              <a:t>.</a:t>
            </a:r>
          </a:p>
          <a:p>
            <a:endParaRPr lang="en-US" dirty="0"/>
          </a:p>
          <a:p>
            <a:endParaRPr lang="en-IN" dirty="0"/>
          </a:p>
        </p:txBody>
      </p:sp>
    </p:spTree>
    <p:extLst>
      <p:ext uri="{BB962C8B-B14F-4D97-AF65-F5344CB8AC3E}">
        <p14:creationId xmlns:p14="http://schemas.microsoft.com/office/powerpoint/2010/main" val="10847741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17B68-C9F0-FDAF-6216-110E802D1A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A3A5F7-0B0F-C412-2677-7F4A00E78A7E}"/>
              </a:ext>
            </a:extLst>
          </p:cNvPr>
          <p:cNvSpPr>
            <a:spLocks noGrp="1"/>
          </p:cNvSpPr>
          <p:nvPr>
            <p:ph type="title"/>
          </p:nvPr>
        </p:nvSpPr>
        <p:spPr/>
        <p:txBody>
          <a:bodyPr/>
          <a:lstStyle/>
          <a:p>
            <a:r>
              <a:rPr lang="en-IN" dirty="0"/>
              <a:t>Summary continued</a:t>
            </a:r>
          </a:p>
        </p:txBody>
      </p:sp>
      <p:sp>
        <p:nvSpPr>
          <p:cNvPr id="3" name="Content Placeholder 2">
            <a:extLst>
              <a:ext uri="{FF2B5EF4-FFF2-40B4-BE49-F238E27FC236}">
                <a16:creationId xmlns:a16="http://schemas.microsoft.com/office/drawing/2014/main" id="{13DB34FE-B81B-E978-79ED-773E93E2A480}"/>
              </a:ext>
            </a:extLst>
          </p:cNvPr>
          <p:cNvSpPr>
            <a:spLocks noGrp="1"/>
          </p:cNvSpPr>
          <p:nvPr>
            <p:ph idx="1"/>
          </p:nvPr>
        </p:nvSpPr>
        <p:spPr>
          <a:xfrm>
            <a:off x="78658" y="2271252"/>
            <a:ext cx="11975690" cy="4473676"/>
          </a:xfrm>
        </p:spPr>
        <p:txBody>
          <a:bodyPr>
            <a:normAutofit/>
          </a:bodyPr>
          <a:lstStyle/>
          <a:p>
            <a:endParaRPr lang="en-US" dirty="0"/>
          </a:p>
          <a:p>
            <a:endParaRPr lang="en-IN" dirty="0"/>
          </a:p>
        </p:txBody>
      </p:sp>
      <p:sp>
        <p:nvSpPr>
          <p:cNvPr id="5" name="TextBox 4">
            <a:extLst>
              <a:ext uri="{FF2B5EF4-FFF2-40B4-BE49-F238E27FC236}">
                <a16:creationId xmlns:a16="http://schemas.microsoft.com/office/drawing/2014/main" id="{7CE7435C-9982-2F76-18EC-D37D6C29942B}"/>
              </a:ext>
            </a:extLst>
          </p:cNvPr>
          <p:cNvSpPr txBox="1"/>
          <p:nvPr/>
        </p:nvSpPr>
        <p:spPr>
          <a:xfrm>
            <a:off x="1154954" y="2497394"/>
            <a:ext cx="7989046" cy="3170099"/>
          </a:xfrm>
          <a:prstGeom prst="rect">
            <a:avLst/>
          </a:prstGeom>
          <a:noFill/>
        </p:spPr>
        <p:txBody>
          <a:bodyPr wrap="square">
            <a:spAutoFit/>
          </a:bodyPr>
          <a:lstStyle/>
          <a:p>
            <a:pPr marL="285750" indent="-285750">
              <a:buFont typeface="Wingdings" panose="05000000000000000000" pitchFamily="2" charset="2"/>
              <a:buChar char="Ø"/>
            </a:pPr>
            <a:r>
              <a:rPr lang="en-US" sz="2000" dirty="0"/>
              <a:t>Sales are driven by </a:t>
            </a:r>
            <a:r>
              <a:rPr lang="en-US" sz="2000" b="1" dirty="0"/>
              <a:t>Bikes</a:t>
            </a:r>
            <a:r>
              <a:rPr lang="en-US" sz="2000" dirty="0"/>
              <a:t>, while </a:t>
            </a:r>
            <a:r>
              <a:rPr lang="en-US" sz="2000" b="1" dirty="0"/>
              <a:t>Accessories lead profitability</a:t>
            </a:r>
            <a:r>
              <a:rPr lang="en-US" sz="2000" dirty="0"/>
              <a:t>, contributing </a:t>
            </a:r>
            <a:r>
              <a:rPr lang="en-US" sz="2000" b="1" dirty="0"/>
              <a:t>42.3% of total profit</a:t>
            </a:r>
            <a:r>
              <a:rPr lang="en-US" sz="2000" dirty="0"/>
              <a:t>.</a:t>
            </a:r>
          </a:p>
          <a:p>
            <a:pPr marL="285750" indent="-285750">
              <a:buFont typeface="Wingdings" panose="05000000000000000000" pitchFamily="2" charset="2"/>
              <a:buChar char="Ø"/>
            </a:pPr>
            <a:endParaRPr lang="en-US" sz="2000" dirty="0"/>
          </a:p>
          <a:p>
            <a:pPr marL="285750" indent="-285750">
              <a:buFont typeface="Wingdings" panose="05000000000000000000" pitchFamily="2" charset="2"/>
              <a:buChar char="Ø"/>
            </a:pPr>
            <a:r>
              <a:rPr lang="en-US" sz="2000" dirty="0"/>
              <a:t>Customers show concentrated buying behavior, with </a:t>
            </a:r>
            <a:r>
              <a:rPr lang="en-US" sz="2000" b="1" dirty="0"/>
              <a:t>Sport100 leading (26%)</a:t>
            </a:r>
            <a:r>
              <a:rPr lang="en-US" sz="2000" dirty="0"/>
              <a:t> and </a:t>
            </a:r>
            <a:r>
              <a:rPr lang="en-US" sz="2000" b="1" dirty="0"/>
              <a:t>Black as the most preferred color</a:t>
            </a:r>
            <a:r>
              <a:rPr lang="en-US" sz="2000" dirty="0"/>
              <a:t>, followed by </a:t>
            </a:r>
            <a:r>
              <a:rPr lang="en-US" sz="2000" b="1" dirty="0"/>
              <a:t>Yellow and Red</a:t>
            </a:r>
            <a:r>
              <a:rPr lang="en-US" sz="2000" dirty="0"/>
              <a:t>.</a:t>
            </a:r>
          </a:p>
          <a:p>
            <a:endParaRPr lang="en-US" sz="2000" dirty="0"/>
          </a:p>
          <a:p>
            <a:pPr marL="285750" indent="-285750">
              <a:buFont typeface="Wingdings" panose="05000000000000000000" pitchFamily="2" charset="2"/>
              <a:buChar char="Ø"/>
            </a:pPr>
            <a:r>
              <a:rPr lang="en-US" sz="2000" b="1" dirty="0"/>
              <a:t>Road-250 Black </a:t>
            </a:r>
            <a:r>
              <a:rPr lang="en-US" sz="2000" dirty="0"/>
              <a:t>and </a:t>
            </a:r>
            <a:r>
              <a:rPr lang="en-US" sz="2000" b="1" dirty="0"/>
              <a:t>Red</a:t>
            </a:r>
            <a:r>
              <a:rPr lang="en-US" sz="2000" dirty="0"/>
              <a:t> led </a:t>
            </a:r>
            <a:r>
              <a:rPr lang="en-US" sz="2000" b="1" dirty="0"/>
              <a:t>2020</a:t>
            </a:r>
            <a:r>
              <a:rPr lang="en-US" sz="2000" dirty="0"/>
              <a:t> performance, while </a:t>
            </a:r>
            <a:r>
              <a:rPr lang="en-US" sz="2000" b="1" dirty="0"/>
              <a:t>Mountain-200 Black </a:t>
            </a:r>
            <a:r>
              <a:rPr lang="en-US" sz="2000" dirty="0"/>
              <a:t>was the top performer over the </a:t>
            </a:r>
            <a:r>
              <a:rPr lang="en-US" sz="2000" b="1" dirty="0"/>
              <a:t>three-year</a:t>
            </a:r>
            <a:r>
              <a:rPr lang="en-US" sz="2000" dirty="0"/>
              <a:t> period.</a:t>
            </a:r>
          </a:p>
        </p:txBody>
      </p:sp>
    </p:spTree>
    <p:extLst>
      <p:ext uri="{BB962C8B-B14F-4D97-AF65-F5344CB8AC3E}">
        <p14:creationId xmlns:p14="http://schemas.microsoft.com/office/powerpoint/2010/main" val="3166022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AB569-B0E7-A903-9E3F-74ADBA87D562}"/>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D9F45426-198A-F413-3B45-0AC848229AB4}"/>
              </a:ext>
            </a:extLst>
          </p:cNvPr>
          <p:cNvSpPr>
            <a:spLocks noGrp="1"/>
          </p:cNvSpPr>
          <p:nvPr>
            <p:ph idx="1"/>
          </p:nvPr>
        </p:nvSpPr>
        <p:spPr>
          <a:xfrm>
            <a:off x="589280" y="2587523"/>
            <a:ext cx="10739120" cy="3652410"/>
          </a:xfrm>
        </p:spPr>
        <p:txBody>
          <a:bodyPr>
            <a:normAutofit/>
          </a:bodyPr>
          <a:lstStyle/>
          <a:p>
            <a:r>
              <a:rPr lang="en-US" dirty="0"/>
              <a:t>Revenue growth can be enhanced by strengthening the </a:t>
            </a:r>
            <a:r>
              <a:rPr lang="en-US" b="1" dirty="0"/>
              <a:t>Bike</a:t>
            </a:r>
            <a:r>
              <a:rPr lang="en-US" dirty="0"/>
              <a:t> segment’s revenue conversion and scaling </a:t>
            </a:r>
            <a:r>
              <a:rPr lang="en-US" b="1" dirty="0"/>
              <a:t>Accessories and Clothing</a:t>
            </a:r>
            <a:r>
              <a:rPr lang="en-US" dirty="0"/>
              <a:t>.</a:t>
            </a:r>
          </a:p>
          <a:p>
            <a:r>
              <a:rPr lang="en-US" dirty="0"/>
              <a:t>Popular brands like </a:t>
            </a:r>
            <a:r>
              <a:rPr lang="en-US" b="1" dirty="0"/>
              <a:t>Sport100 </a:t>
            </a:r>
            <a:r>
              <a:rPr lang="en-US" dirty="0"/>
              <a:t>and </a:t>
            </a:r>
            <a:r>
              <a:rPr lang="en-US" b="1" dirty="0"/>
              <a:t>Black</a:t>
            </a:r>
            <a:r>
              <a:rPr lang="en-US" dirty="0"/>
              <a:t> should be leveraged to promote additional models and color variants.</a:t>
            </a:r>
          </a:p>
          <a:p>
            <a:r>
              <a:rPr lang="en-US" dirty="0"/>
              <a:t>Strong performance </a:t>
            </a:r>
            <a:r>
              <a:rPr lang="en-US" b="1" dirty="0"/>
              <a:t>in North America </a:t>
            </a:r>
            <a:r>
              <a:rPr lang="en-US" dirty="0"/>
              <a:t>and </a:t>
            </a:r>
            <a:r>
              <a:rPr lang="en-US" b="1" dirty="0"/>
              <a:t>Europe</a:t>
            </a:r>
            <a:r>
              <a:rPr lang="en-US" dirty="0"/>
              <a:t> provides a foundation for expansion into underperforming regions such as the Pacific.</a:t>
            </a:r>
            <a:endParaRPr lang="en-IN" dirty="0"/>
          </a:p>
        </p:txBody>
      </p:sp>
    </p:spTree>
    <p:extLst>
      <p:ext uri="{BB962C8B-B14F-4D97-AF65-F5344CB8AC3E}">
        <p14:creationId xmlns:p14="http://schemas.microsoft.com/office/powerpoint/2010/main" val="233665287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TM02900722[[fn=Ion Boardroom]]</Template>
  <TotalTime>596</TotalTime>
  <Words>810</Words>
  <Application>Microsoft Office PowerPoint</Application>
  <PresentationFormat>Widescreen</PresentationFormat>
  <Paragraphs>70</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Century Gothic</vt:lpstr>
      <vt:lpstr>Wingdings</vt:lpstr>
      <vt:lpstr>Wingdings 3</vt:lpstr>
      <vt:lpstr>Ion Boardroom</vt:lpstr>
      <vt:lpstr>AdventureWorks: Sales Performance &amp; Growth Analysis</vt:lpstr>
      <vt:lpstr>Problem Statement</vt:lpstr>
      <vt:lpstr>Project Objective</vt:lpstr>
      <vt:lpstr>Dataset Details – AdventureWorks </vt:lpstr>
      <vt:lpstr> Key KPI Cards</vt:lpstr>
      <vt:lpstr>Sales Trends by Day, Month, Quarter &amp; Year and Sales Force</vt:lpstr>
      <vt:lpstr>Analysis of top revenue-generating products, profitability comparison, and annual profit growth.</vt:lpstr>
      <vt:lpstr>Top Revenue and Volume-Growing Product Types and Categories</vt:lpstr>
      <vt:lpstr>Key Customer Trends in Terms of Purchase Behavior, Colors, and Product Models</vt:lpstr>
      <vt:lpstr>Net Sales Across Regions and AOV by Demographics and Products</vt:lpstr>
      <vt:lpstr>Summary</vt:lpstr>
      <vt:lpstr>Summary continued</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 PAVITHRA</dc:creator>
  <cp:lastModifiedBy>P PAVITHRA</cp:lastModifiedBy>
  <cp:revision>12</cp:revision>
  <dcterms:created xsi:type="dcterms:W3CDTF">2026-02-06T09:23:00Z</dcterms:created>
  <dcterms:modified xsi:type="dcterms:W3CDTF">2026-05-21T10:37:48Z</dcterms:modified>
</cp:coreProperties>
</file>